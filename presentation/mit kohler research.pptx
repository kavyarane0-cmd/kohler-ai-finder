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nton" charset="1" panose="00000500000000000000"/>
      <p:regular r:id="rId16"/>
    </p:embeddedFont>
    <p:embeddedFont>
      <p:font typeface="Work Sans" charset="1" panose="00000000000000000000"/>
      <p:regular r:id="rId17"/>
    </p:embeddedFont>
    <p:embeddedFont>
      <p:font typeface="Work Sans Bold" charset="1" panose="00000000000000000000"/>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6435447"/>
            <a:ext cx="18288000" cy="3851553"/>
            <a:chOff x="0" y="0"/>
            <a:chExt cx="8293191" cy="1746592"/>
          </a:xfrm>
        </p:grpSpPr>
        <p:sp>
          <p:nvSpPr>
            <p:cNvPr name="Freeform 3" id="3"/>
            <p:cNvSpPr/>
            <p:nvPr/>
          </p:nvSpPr>
          <p:spPr>
            <a:xfrm flipH="false" flipV="false" rot="0">
              <a:off x="0" y="0"/>
              <a:ext cx="8293191" cy="1746592"/>
            </a:xfrm>
            <a:custGeom>
              <a:avLst/>
              <a:gdLst/>
              <a:ahLst/>
              <a:cxnLst/>
              <a:rect r="r" b="b" t="t" l="l"/>
              <a:pathLst>
                <a:path h="1746592" w="8293191">
                  <a:moveTo>
                    <a:pt x="0" y="0"/>
                  </a:moveTo>
                  <a:lnTo>
                    <a:pt x="8293191" y="0"/>
                  </a:lnTo>
                  <a:lnTo>
                    <a:pt x="8293191" y="1746592"/>
                  </a:lnTo>
                  <a:lnTo>
                    <a:pt x="0" y="1746592"/>
                  </a:lnTo>
                  <a:close/>
                </a:path>
              </a:pathLst>
            </a:custGeom>
            <a:solidFill>
              <a:srgbClr val="EBEBEB"/>
            </a:solidFill>
            <a:ln cap="sq">
              <a:noFill/>
              <a:prstDash val="solid"/>
              <a:miter/>
            </a:ln>
          </p:spPr>
        </p:sp>
        <p:sp>
          <p:nvSpPr>
            <p:cNvPr name="TextBox 4" id="4"/>
            <p:cNvSpPr txBox="true"/>
            <p:nvPr/>
          </p:nvSpPr>
          <p:spPr>
            <a:xfrm>
              <a:off x="0" y="-47625"/>
              <a:ext cx="8293191" cy="17942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5687506" y="3354731"/>
            <a:ext cx="7562475" cy="6932269"/>
          </a:xfrm>
          <a:custGeom>
            <a:avLst/>
            <a:gdLst/>
            <a:ahLst/>
            <a:cxnLst/>
            <a:rect r="r" b="b" t="t" l="l"/>
            <a:pathLst>
              <a:path h="6932269" w="7562475">
                <a:moveTo>
                  <a:pt x="0" y="0"/>
                </a:moveTo>
                <a:lnTo>
                  <a:pt x="7562475" y="0"/>
                </a:lnTo>
                <a:lnTo>
                  <a:pt x="7562475" y="6932269"/>
                </a:lnTo>
                <a:lnTo>
                  <a:pt x="0" y="6932269"/>
                </a:lnTo>
                <a:lnTo>
                  <a:pt x="0" y="0"/>
                </a:lnTo>
                <a:close/>
              </a:path>
            </a:pathLst>
          </a:custGeom>
          <a:blipFill>
            <a:blip r:embed="rId2"/>
            <a:stretch>
              <a:fillRect l="-18407" t="0" r="-18407" b="0"/>
            </a:stretch>
          </a:blipFill>
        </p:spPr>
      </p:sp>
      <p:grpSp>
        <p:nvGrpSpPr>
          <p:cNvPr name="Group 6" id="6"/>
          <p:cNvGrpSpPr/>
          <p:nvPr/>
        </p:nvGrpSpPr>
        <p:grpSpPr>
          <a:xfrm rot="0">
            <a:off x="7377484" y="279084"/>
            <a:ext cx="3533031" cy="749616"/>
            <a:chOff x="0" y="0"/>
            <a:chExt cx="1602149" cy="339934"/>
          </a:xfrm>
        </p:grpSpPr>
        <p:sp>
          <p:nvSpPr>
            <p:cNvPr name="Freeform 7" id="7"/>
            <p:cNvSpPr/>
            <p:nvPr/>
          </p:nvSpPr>
          <p:spPr>
            <a:xfrm flipH="false" flipV="false" rot="0">
              <a:off x="0" y="0"/>
              <a:ext cx="1602149" cy="339934"/>
            </a:xfrm>
            <a:custGeom>
              <a:avLst/>
              <a:gdLst/>
              <a:ahLst/>
              <a:cxnLst/>
              <a:rect r="r" b="b" t="t" l="l"/>
              <a:pathLst>
                <a:path h="339934" w="1602149">
                  <a:moveTo>
                    <a:pt x="0" y="0"/>
                  </a:moveTo>
                  <a:lnTo>
                    <a:pt x="1602149" y="0"/>
                  </a:lnTo>
                  <a:lnTo>
                    <a:pt x="1602149" y="339934"/>
                  </a:lnTo>
                  <a:lnTo>
                    <a:pt x="0" y="339934"/>
                  </a:lnTo>
                  <a:close/>
                </a:path>
              </a:pathLst>
            </a:custGeom>
            <a:solidFill>
              <a:srgbClr val="FFFFFF"/>
            </a:solidFill>
            <a:ln w="19050" cap="sq">
              <a:solidFill>
                <a:srgbClr val="545454"/>
              </a:solidFill>
              <a:prstDash val="solid"/>
              <a:miter/>
            </a:ln>
          </p:spPr>
        </p:sp>
        <p:sp>
          <p:nvSpPr>
            <p:cNvPr name="TextBox 8" id="8"/>
            <p:cNvSpPr txBox="true"/>
            <p:nvPr/>
          </p:nvSpPr>
          <p:spPr>
            <a:xfrm>
              <a:off x="0" y="-47625"/>
              <a:ext cx="1602149" cy="387559"/>
            </a:xfrm>
            <a:prstGeom prst="rect">
              <a:avLst/>
            </a:prstGeom>
          </p:spPr>
          <p:txBody>
            <a:bodyPr anchor="ctr" rtlCol="false" tIns="50800" lIns="50800" bIns="50800" rIns="50800"/>
            <a:lstStyle/>
            <a:p>
              <a:pPr algn="ctr">
                <a:lnSpc>
                  <a:spcPts val="2519"/>
                </a:lnSpc>
              </a:pPr>
            </a:p>
          </p:txBody>
        </p:sp>
      </p:grpSp>
      <p:sp>
        <p:nvSpPr>
          <p:cNvPr name="AutoShape 9" id="9"/>
          <p:cNvSpPr/>
          <p:nvPr/>
        </p:nvSpPr>
        <p:spPr>
          <a:xfrm>
            <a:off x="14789578" y="536543"/>
            <a:ext cx="0" cy="221291"/>
          </a:xfrm>
          <a:prstGeom prst="line">
            <a:avLst/>
          </a:prstGeom>
          <a:ln cap="flat" w="19050">
            <a:solidFill>
              <a:srgbClr val="000000"/>
            </a:solidFill>
            <a:prstDash val="solid"/>
            <a:headEnd type="none" len="sm" w="sm"/>
            <a:tailEnd type="none" len="sm" w="sm"/>
          </a:ln>
        </p:spPr>
      </p:sp>
      <p:sp>
        <p:nvSpPr>
          <p:cNvPr name="AutoShape 10" id="10"/>
          <p:cNvSpPr/>
          <p:nvPr/>
        </p:nvSpPr>
        <p:spPr>
          <a:xfrm>
            <a:off x="3241700" y="536543"/>
            <a:ext cx="0" cy="221291"/>
          </a:xfrm>
          <a:prstGeom prst="line">
            <a:avLst/>
          </a:prstGeom>
          <a:ln cap="flat" w="19050">
            <a:solidFill>
              <a:srgbClr val="000000"/>
            </a:solidFill>
            <a:prstDash val="solid"/>
            <a:headEnd type="none" len="sm" w="sm"/>
            <a:tailEnd type="none" len="sm" w="sm"/>
          </a:ln>
        </p:spPr>
      </p:sp>
      <p:grpSp>
        <p:nvGrpSpPr>
          <p:cNvPr name="Group 11" id="11"/>
          <p:cNvGrpSpPr/>
          <p:nvPr/>
        </p:nvGrpSpPr>
        <p:grpSpPr>
          <a:xfrm rot="0">
            <a:off x="0" y="6435447"/>
            <a:ext cx="5445322" cy="4137303"/>
            <a:chOff x="0" y="0"/>
            <a:chExt cx="2469329" cy="1876173"/>
          </a:xfrm>
        </p:grpSpPr>
        <p:sp>
          <p:nvSpPr>
            <p:cNvPr name="Freeform 12" id="12"/>
            <p:cNvSpPr/>
            <p:nvPr/>
          </p:nvSpPr>
          <p:spPr>
            <a:xfrm flipH="false" flipV="false" rot="0">
              <a:off x="0" y="0"/>
              <a:ext cx="2469329" cy="1876173"/>
            </a:xfrm>
            <a:custGeom>
              <a:avLst/>
              <a:gdLst/>
              <a:ahLst/>
              <a:cxnLst/>
              <a:rect r="r" b="b" t="t" l="l"/>
              <a:pathLst>
                <a:path h="1876173" w="2469329">
                  <a:moveTo>
                    <a:pt x="0" y="0"/>
                  </a:moveTo>
                  <a:lnTo>
                    <a:pt x="2469329" y="0"/>
                  </a:lnTo>
                  <a:lnTo>
                    <a:pt x="2469329" y="1876173"/>
                  </a:lnTo>
                  <a:lnTo>
                    <a:pt x="0" y="1876173"/>
                  </a:lnTo>
                  <a:close/>
                </a:path>
              </a:pathLst>
            </a:custGeom>
            <a:solidFill>
              <a:srgbClr val="545454"/>
            </a:solidFill>
            <a:ln cap="sq">
              <a:noFill/>
              <a:prstDash val="solid"/>
              <a:miter/>
            </a:ln>
          </p:spPr>
        </p:sp>
        <p:sp>
          <p:nvSpPr>
            <p:cNvPr name="TextBox 13" id="13"/>
            <p:cNvSpPr txBox="true"/>
            <p:nvPr/>
          </p:nvSpPr>
          <p:spPr>
            <a:xfrm>
              <a:off x="0" y="-47625"/>
              <a:ext cx="2469329" cy="1923798"/>
            </a:xfrm>
            <a:prstGeom prst="rect">
              <a:avLst/>
            </a:prstGeom>
          </p:spPr>
          <p:txBody>
            <a:bodyPr anchor="ctr" rtlCol="false" tIns="50800" lIns="50800" bIns="50800" rIns="50800"/>
            <a:lstStyle/>
            <a:p>
              <a:pPr algn="ctr">
                <a:lnSpc>
                  <a:spcPts val="2519"/>
                </a:lnSpc>
              </a:pPr>
            </a:p>
          </p:txBody>
        </p:sp>
      </p:grpSp>
      <p:sp>
        <p:nvSpPr>
          <p:cNvPr name="TextBox 14" id="14"/>
          <p:cNvSpPr txBox="true"/>
          <p:nvPr/>
        </p:nvSpPr>
        <p:spPr>
          <a:xfrm rot="0">
            <a:off x="7672536" y="394176"/>
            <a:ext cx="2942927" cy="481331"/>
          </a:xfrm>
          <a:prstGeom prst="rect">
            <a:avLst/>
          </a:prstGeom>
        </p:spPr>
        <p:txBody>
          <a:bodyPr anchor="t" rtlCol="false" tIns="0" lIns="0" bIns="0" rIns="0">
            <a:spAutoFit/>
          </a:bodyPr>
          <a:lstStyle/>
          <a:p>
            <a:pPr algn="ctr">
              <a:lnSpc>
                <a:spcPts val="3919"/>
              </a:lnSpc>
              <a:spcBef>
                <a:spcPct val="0"/>
              </a:spcBef>
            </a:pPr>
            <a:r>
              <a:rPr lang="en-US" sz="2799">
                <a:solidFill>
                  <a:srgbClr val="545454"/>
                </a:solidFill>
                <a:latin typeface="Anton"/>
                <a:ea typeface="Anton"/>
                <a:cs typeface="Anton"/>
                <a:sym typeface="Anton"/>
              </a:rPr>
              <a:t>KAVYA RANE</a:t>
            </a:r>
          </a:p>
        </p:txBody>
      </p:sp>
      <p:sp>
        <p:nvSpPr>
          <p:cNvPr name="TextBox 15" id="15"/>
          <p:cNvSpPr txBox="true"/>
          <p:nvPr/>
        </p:nvSpPr>
        <p:spPr>
          <a:xfrm rot="0">
            <a:off x="13899908" y="7997050"/>
            <a:ext cx="3359392" cy="2400935"/>
          </a:xfrm>
          <a:prstGeom prst="rect">
            <a:avLst/>
          </a:prstGeom>
        </p:spPr>
        <p:txBody>
          <a:bodyPr anchor="t" rtlCol="false" tIns="0" lIns="0" bIns="0" rIns="0">
            <a:spAutoFit/>
          </a:bodyPr>
          <a:lstStyle/>
          <a:p>
            <a:pPr algn="just">
              <a:lnSpc>
                <a:spcPts val="3499"/>
              </a:lnSpc>
            </a:pPr>
            <a:r>
              <a:rPr lang="en-US" sz="2499" spc="-237">
                <a:solidFill>
                  <a:srgbClr val="000000"/>
                </a:solidFill>
                <a:latin typeface="Work Sans"/>
                <a:ea typeface="Work Sans"/>
                <a:cs typeface="Work Sans"/>
                <a:sym typeface="Work Sans"/>
              </a:rPr>
              <a:t>Name: Kavya Rane</a:t>
            </a:r>
          </a:p>
          <a:p>
            <a:pPr algn="just">
              <a:lnSpc>
                <a:spcPts val="3499"/>
              </a:lnSpc>
            </a:pPr>
            <a:r>
              <a:rPr lang="en-US" sz="2499" spc="-237">
                <a:solidFill>
                  <a:srgbClr val="000000"/>
                </a:solidFill>
                <a:latin typeface="Work Sans"/>
                <a:ea typeface="Work Sans"/>
                <a:cs typeface="Work Sans"/>
                <a:sym typeface="Work Sans"/>
              </a:rPr>
              <a:t>Year: Third (2024-2028)</a:t>
            </a:r>
          </a:p>
          <a:p>
            <a:pPr algn="just">
              <a:lnSpc>
                <a:spcPts val="3499"/>
              </a:lnSpc>
            </a:pPr>
            <a:r>
              <a:rPr lang="en-US" sz="2499" spc="-237">
                <a:solidFill>
                  <a:srgbClr val="000000"/>
                </a:solidFill>
                <a:latin typeface="Work Sans"/>
                <a:ea typeface="Work Sans"/>
                <a:cs typeface="Work Sans"/>
                <a:sym typeface="Work Sans"/>
              </a:rPr>
              <a:t>PRN: 1262241582</a:t>
            </a:r>
          </a:p>
          <a:p>
            <a:pPr algn="just">
              <a:lnSpc>
                <a:spcPts val="3499"/>
              </a:lnSpc>
            </a:pPr>
            <a:r>
              <a:rPr lang="en-US" sz="2499" spc="-237">
                <a:solidFill>
                  <a:srgbClr val="000000"/>
                </a:solidFill>
                <a:latin typeface="Work Sans"/>
                <a:ea typeface="Work Sans"/>
                <a:cs typeface="Work Sans"/>
                <a:sym typeface="Work Sans"/>
              </a:rPr>
              <a:t>Panel: B</a:t>
            </a:r>
          </a:p>
          <a:p>
            <a:pPr algn="just">
              <a:lnSpc>
                <a:spcPts val="3499"/>
              </a:lnSpc>
            </a:pPr>
            <a:r>
              <a:rPr lang="en-US" sz="2499" spc="-237">
                <a:solidFill>
                  <a:srgbClr val="000000"/>
                </a:solidFill>
                <a:latin typeface="Work Sans"/>
                <a:ea typeface="Work Sans"/>
                <a:cs typeface="Work Sans"/>
                <a:sym typeface="Work Sans"/>
              </a:rPr>
              <a:t>BTech CSE (AI/DS)</a:t>
            </a:r>
          </a:p>
          <a:p>
            <a:pPr algn="l">
              <a:lnSpc>
                <a:spcPts val="1679"/>
              </a:lnSpc>
              <a:spcBef>
                <a:spcPct val="0"/>
              </a:spcBef>
            </a:pPr>
          </a:p>
        </p:txBody>
      </p:sp>
      <p:grpSp>
        <p:nvGrpSpPr>
          <p:cNvPr name="Group 16" id="16"/>
          <p:cNvGrpSpPr/>
          <p:nvPr/>
        </p:nvGrpSpPr>
        <p:grpSpPr>
          <a:xfrm rot="0">
            <a:off x="13286366" y="7513823"/>
            <a:ext cx="3972934" cy="423552"/>
            <a:chOff x="0" y="0"/>
            <a:chExt cx="5297245" cy="564736"/>
          </a:xfrm>
        </p:grpSpPr>
        <p:grpSp>
          <p:nvGrpSpPr>
            <p:cNvPr name="Group 17" id="17"/>
            <p:cNvGrpSpPr/>
            <p:nvPr/>
          </p:nvGrpSpPr>
          <p:grpSpPr>
            <a:xfrm rot="0">
              <a:off x="0" y="0"/>
              <a:ext cx="564736" cy="56473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45454"/>
              </a:solidFill>
            </p:spPr>
          </p:sp>
          <p:sp>
            <p:nvSpPr>
              <p:cNvPr name="TextBox 19" id="19"/>
              <p:cNvSpPr txBox="true"/>
              <p:nvPr/>
            </p:nvSpPr>
            <p:spPr>
              <a:xfrm>
                <a:off x="190500" y="142875"/>
                <a:ext cx="431800" cy="479425"/>
              </a:xfrm>
              <a:prstGeom prst="rect">
                <a:avLst/>
              </a:prstGeom>
            </p:spPr>
            <p:txBody>
              <a:bodyPr anchor="ctr" rtlCol="false" tIns="50800" lIns="50800" bIns="50800" rIns="50800"/>
              <a:lstStyle/>
              <a:p>
                <a:pPr algn="ctr">
                  <a:lnSpc>
                    <a:spcPts val="2519"/>
                  </a:lnSpc>
                </a:pPr>
              </a:p>
            </p:txBody>
          </p:sp>
        </p:grpSp>
        <p:sp>
          <p:nvSpPr>
            <p:cNvPr name="TextBox 20" id="20"/>
            <p:cNvSpPr txBox="true"/>
            <p:nvPr/>
          </p:nvSpPr>
          <p:spPr>
            <a:xfrm rot="0">
              <a:off x="818055" y="-57150"/>
              <a:ext cx="4479189" cy="459316"/>
            </a:xfrm>
            <a:prstGeom prst="rect">
              <a:avLst/>
            </a:prstGeom>
          </p:spPr>
          <p:txBody>
            <a:bodyPr anchor="t" rtlCol="false" tIns="0" lIns="0" bIns="0" rIns="0">
              <a:spAutoFit/>
            </a:bodyPr>
            <a:lstStyle/>
            <a:p>
              <a:pPr algn="l">
                <a:lnSpc>
                  <a:spcPts val="2800"/>
                </a:lnSpc>
                <a:spcBef>
                  <a:spcPct val="0"/>
                </a:spcBef>
              </a:pPr>
              <a:r>
                <a:rPr lang="en-US" b="true" sz="2000">
                  <a:solidFill>
                    <a:srgbClr val="545454"/>
                  </a:solidFill>
                  <a:latin typeface="Work Sans Bold"/>
                  <a:ea typeface="Work Sans Bold"/>
                  <a:cs typeface="Work Sans Bold"/>
                  <a:sym typeface="Work Sans Bold"/>
                </a:rPr>
                <a:t>AI RESEARCH PROGRAM</a:t>
              </a:r>
            </a:p>
          </p:txBody>
        </p:sp>
      </p:grpSp>
      <p:sp>
        <p:nvSpPr>
          <p:cNvPr name="TextBox 21" id="21"/>
          <p:cNvSpPr txBox="true"/>
          <p:nvPr/>
        </p:nvSpPr>
        <p:spPr>
          <a:xfrm rot="0">
            <a:off x="226910" y="953094"/>
            <a:ext cx="17834180" cy="3506924"/>
          </a:xfrm>
          <a:prstGeom prst="rect">
            <a:avLst/>
          </a:prstGeom>
        </p:spPr>
        <p:txBody>
          <a:bodyPr anchor="t" rtlCol="false" tIns="0" lIns="0" bIns="0" rIns="0">
            <a:spAutoFit/>
          </a:bodyPr>
          <a:lstStyle/>
          <a:p>
            <a:pPr algn="ctr">
              <a:lnSpc>
                <a:spcPts val="28651"/>
              </a:lnSpc>
              <a:spcBef>
                <a:spcPct val="0"/>
              </a:spcBef>
            </a:pPr>
            <a:r>
              <a:rPr lang="en-US" sz="20465">
                <a:solidFill>
                  <a:srgbClr val="545454"/>
                </a:solidFill>
                <a:latin typeface="Anton"/>
                <a:ea typeface="Anton"/>
                <a:cs typeface="Anton"/>
                <a:sym typeface="Anton"/>
              </a:rPr>
              <a:t>KOHLER MITWPU</a:t>
            </a:r>
          </a:p>
        </p:txBody>
      </p:sp>
      <p:sp>
        <p:nvSpPr>
          <p:cNvPr name="TextBox 22" id="22"/>
          <p:cNvSpPr txBox="true"/>
          <p:nvPr/>
        </p:nvSpPr>
        <p:spPr>
          <a:xfrm rot="0">
            <a:off x="226910" y="7286486"/>
            <a:ext cx="4810669" cy="2673350"/>
          </a:xfrm>
          <a:prstGeom prst="rect">
            <a:avLst/>
          </a:prstGeom>
        </p:spPr>
        <p:txBody>
          <a:bodyPr anchor="t" rtlCol="false" tIns="0" lIns="0" bIns="0" rIns="0">
            <a:spAutoFit/>
          </a:bodyPr>
          <a:lstStyle/>
          <a:p>
            <a:pPr algn="just">
              <a:lnSpc>
                <a:spcPts val="3024"/>
              </a:lnSpc>
            </a:pPr>
            <a:r>
              <a:rPr lang="en-US" sz="2499">
                <a:solidFill>
                  <a:srgbClr val="FFFFFF"/>
                </a:solidFill>
                <a:latin typeface="Work Sans"/>
                <a:ea typeface="Work Sans"/>
                <a:cs typeface="Work Sans"/>
                <a:sym typeface="Work Sans"/>
              </a:rPr>
              <a:t>BUILD AN INTERACTIVE AI DESIGN ASSISTANT THAT TAKES A CUSTOMER'S CONSTRAINTS AND A</a:t>
            </a:r>
            <a:r>
              <a:rPr lang="en-US" sz="2499">
                <a:solidFill>
                  <a:srgbClr val="FFFFFF"/>
                </a:solidFill>
                <a:latin typeface="Work Sans"/>
                <a:ea typeface="Work Sans"/>
                <a:cs typeface="Work Sans"/>
                <a:sym typeface="Work Sans"/>
              </a:rPr>
              <a:t>UTOMATES PERSONALIZED PRODUCT BUNDLE RECOMMENDATIONS.</a:t>
            </a:r>
          </a:p>
        </p:txBody>
      </p:sp>
      <p:sp>
        <p:nvSpPr>
          <p:cNvPr name="TextBox 23" id="23"/>
          <p:cNvSpPr txBox="true"/>
          <p:nvPr/>
        </p:nvSpPr>
        <p:spPr>
          <a:xfrm rot="0">
            <a:off x="226910" y="6441936"/>
            <a:ext cx="4158880" cy="854075"/>
          </a:xfrm>
          <a:prstGeom prst="rect">
            <a:avLst/>
          </a:prstGeom>
        </p:spPr>
        <p:txBody>
          <a:bodyPr anchor="t" rtlCol="false" tIns="0" lIns="0" bIns="0" rIns="0">
            <a:spAutoFit/>
          </a:bodyPr>
          <a:lstStyle/>
          <a:p>
            <a:pPr algn="l">
              <a:lnSpc>
                <a:spcPts val="6999"/>
              </a:lnSpc>
              <a:spcBef>
                <a:spcPct val="0"/>
              </a:spcBef>
            </a:pPr>
            <a:r>
              <a:rPr lang="en-US" sz="4999" b="true">
                <a:solidFill>
                  <a:srgbClr val="FFFFFF"/>
                </a:solidFill>
                <a:latin typeface="Work Sans Bold"/>
                <a:ea typeface="Work Sans Bold"/>
                <a:cs typeface="Work Sans Bold"/>
                <a:sym typeface="Work Sans Bold"/>
              </a:rPr>
              <a:t>Case study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9022" y="0"/>
            <a:ext cx="10728978" cy="7933874"/>
            <a:chOff x="0" y="0"/>
            <a:chExt cx="3991564" cy="2951685"/>
          </a:xfrm>
        </p:grpSpPr>
        <p:sp>
          <p:nvSpPr>
            <p:cNvPr name="Freeform 3" id="3"/>
            <p:cNvSpPr/>
            <p:nvPr/>
          </p:nvSpPr>
          <p:spPr>
            <a:xfrm flipH="false" flipV="false" rot="0">
              <a:off x="0" y="0"/>
              <a:ext cx="3991564" cy="2951685"/>
            </a:xfrm>
            <a:custGeom>
              <a:avLst/>
              <a:gdLst/>
              <a:ahLst/>
              <a:cxnLst/>
              <a:rect r="r" b="b" t="t" l="l"/>
              <a:pathLst>
                <a:path h="2951685" w="3991564">
                  <a:moveTo>
                    <a:pt x="0" y="0"/>
                  </a:moveTo>
                  <a:lnTo>
                    <a:pt x="3991564" y="0"/>
                  </a:lnTo>
                  <a:lnTo>
                    <a:pt x="3991564" y="2951685"/>
                  </a:lnTo>
                  <a:lnTo>
                    <a:pt x="0" y="2951685"/>
                  </a:lnTo>
                  <a:close/>
                </a:path>
              </a:pathLst>
            </a:custGeom>
            <a:blipFill>
              <a:blip r:embed="rId2"/>
              <a:stretch>
                <a:fillRect l="0" t="-11735" r="0" b="-11735"/>
              </a:stretch>
            </a:blipFill>
          </p:spPr>
        </p:sp>
      </p:grpSp>
      <p:grpSp>
        <p:nvGrpSpPr>
          <p:cNvPr name="Group 4" id="4"/>
          <p:cNvGrpSpPr/>
          <p:nvPr/>
        </p:nvGrpSpPr>
        <p:grpSpPr>
          <a:xfrm rot="0">
            <a:off x="1028700" y="5115884"/>
            <a:ext cx="5316289" cy="1448318"/>
            <a:chOff x="0" y="0"/>
            <a:chExt cx="823632" cy="224382"/>
          </a:xfrm>
        </p:grpSpPr>
        <p:sp>
          <p:nvSpPr>
            <p:cNvPr name="Freeform 5" id="5"/>
            <p:cNvSpPr/>
            <p:nvPr/>
          </p:nvSpPr>
          <p:spPr>
            <a:xfrm flipH="false" flipV="false" rot="0">
              <a:off x="0" y="0"/>
              <a:ext cx="823632" cy="224382"/>
            </a:xfrm>
            <a:custGeom>
              <a:avLst/>
              <a:gdLst/>
              <a:ahLst/>
              <a:cxnLst/>
              <a:rect r="r" b="b" t="t" l="l"/>
              <a:pathLst>
                <a:path h="224382" w="823632">
                  <a:moveTo>
                    <a:pt x="0" y="0"/>
                  </a:moveTo>
                  <a:lnTo>
                    <a:pt x="823632" y="0"/>
                  </a:lnTo>
                  <a:lnTo>
                    <a:pt x="823632" y="224382"/>
                  </a:lnTo>
                  <a:lnTo>
                    <a:pt x="0" y="224382"/>
                  </a:lnTo>
                  <a:close/>
                </a:path>
              </a:pathLst>
            </a:custGeom>
            <a:blipFill>
              <a:blip r:embed="rId3"/>
              <a:stretch>
                <a:fillRect l="0" t="-72355" r="0" b="-72355"/>
              </a:stretch>
            </a:blipFill>
          </p:spPr>
        </p:sp>
      </p:grpSp>
      <p:sp>
        <p:nvSpPr>
          <p:cNvPr name="TextBox 6" id="6"/>
          <p:cNvSpPr txBox="true"/>
          <p:nvPr/>
        </p:nvSpPr>
        <p:spPr>
          <a:xfrm rot="0">
            <a:off x="868306" y="6869572"/>
            <a:ext cx="6778203" cy="1399540"/>
          </a:xfrm>
          <a:prstGeom prst="rect">
            <a:avLst/>
          </a:prstGeom>
        </p:spPr>
        <p:txBody>
          <a:bodyPr anchor="t" rtlCol="false" tIns="0" lIns="0" bIns="0" rIns="0">
            <a:spAutoFit/>
          </a:bodyPr>
          <a:lstStyle/>
          <a:p>
            <a:pPr algn="l">
              <a:lnSpc>
                <a:spcPts val="3639"/>
              </a:lnSpc>
            </a:pPr>
            <a:r>
              <a:rPr lang="en-US" sz="2599" b="true">
                <a:solidFill>
                  <a:srgbClr val="545454"/>
                </a:solidFill>
                <a:latin typeface="Work Sans Bold"/>
                <a:ea typeface="Work Sans Bold"/>
                <a:cs typeface="Work Sans Bold"/>
                <a:sym typeface="Work Sans Bold"/>
              </a:rPr>
              <a:t>NEED: </a:t>
            </a:r>
          </a:p>
          <a:p>
            <a:pPr algn="l">
              <a:lnSpc>
                <a:spcPts val="3779"/>
              </a:lnSpc>
              <a:spcBef>
                <a:spcPct val="0"/>
              </a:spcBef>
            </a:pPr>
            <a:r>
              <a:rPr lang="en-US" b="true" sz="2699">
                <a:solidFill>
                  <a:srgbClr val="545454"/>
                </a:solidFill>
                <a:latin typeface="Canva Sans Bold"/>
                <a:ea typeface="Canva Sans Bold"/>
                <a:cs typeface="Canva Sans Bold"/>
                <a:sym typeface="Canva Sans Bold"/>
              </a:rPr>
              <a:t>AN INTELLIGENT SYSTEM THAT CAN ANALYSE THE EXISITING FIXTURE AND </a:t>
            </a:r>
          </a:p>
        </p:txBody>
      </p:sp>
      <p:sp>
        <p:nvSpPr>
          <p:cNvPr name="TextBox 7" id="7"/>
          <p:cNvSpPr txBox="true"/>
          <p:nvPr/>
        </p:nvSpPr>
        <p:spPr>
          <a:xfrm rot="0">
            <a:off x="868306" y="1205681"/>
            <a:ext cx="6250458" cy="3659451"/>
          </a:xfrm>
          <a:prstGeom prst="rect">
            <a:avLst/>
          </a:prstGeom>
        </p:spPr>
        <p:txBody>
          <a:bodyPr anchor="t" rtlCol="false" tIns="0" lIns="0" bIns="0" rIns="0">
            <a:spAutoFit/>
          </a:bodyPr>
          <a:lstStyle/>
          <a:p>
            <a:pPr algn="l">
              <a:lnSpc>
                <a:spcPts val="2095"/>
              </a:lnSpc>
            </a:pPr>
            <a:r>
              <a:rPr lang="en-US" sz="1496">
                <a:solidFill>
                  <a:srgbClr val="000000"/>
                </a:solidFill>
                <a:latin typeface="Work Sans"/>
                <a:ea typeface="Work Sans"/>
                <a:cs typeface="Work Sans"/>
                <a:sym typeface="Work Sans"/>
              </a:rPr>
              <a:t>Customers often struggle to identify the right bathroom and kitchen products for their specific requirements because product selection depends on multiple factors such as the exisiting fixture, the issue or replacement need, available space, dimensinos,budget and preferred finish. Manually searching through large product catalogs and price books can be time-consuming and can lead to unsuitable product choices.</a:t>
            </a:r>
          </a:p>
          <a:p>
            <a:pPr algn="l">
              <a:lnSpc>
                <a:spcPts val="2095"/>
              </a:lnSpc>
            </a:pPr>
          </a:p>
          <a:p>
            <a:pPr algn="l">
              <a:lnSpc>
                <a:spcPts val="2095"/>
              </a:lnSpc>
              <a:spcBef>
                <a:spcPct val="0"/>
              </a:spcBef>
            </a:pPr>
            <a:r>
              <a:rPr lang="en-US" sz="1496">
                <a:solidFill>
                  <a:srgbClr val="000000"/>
                </a:solidFill>
                <a:latin typeface="Work Sans"/>
                <a:ea typeface="Work Sans"/>
                <a:cs typeface="Work Sans"/>
                <a:sym typeface="Work Sans"/>
              </a:rPr>
              <a:t>Therefore, there is a need for an AI-powered system that can analyse an image of an exisiting bathoom or kitchen fixture, identify the fixture and possible issue, collect the user’s space and budget requirements, and reccomend suitable KOHLER products based on the product specifications, dimensions, compatibility and price.</a:t>
            </a:r>
          </a:p>
        </p:txBody>
      </p:sp>
      <p:grpSp>
        <p:nvGrpSpPr>
          <p:cNvPr name="Group 8" id="8"/>
          <p:cNvGrpSpPr/>
          <p:nvPr/>
        </p:nvGrpSpPr>
        <p:grpSpPr>
          <a:xfrm rot="0">
            <a:off x="540701" y="279084"/>
            <a:ext cx="3533031" cy="749616"/>
            <a:chOff x="0" y="0"/>
            <a:chExt cx="4710708" cy="999488"/>
          </a:xfrm>
        </p:grpSpPr>
        <p:grpSp>
          <p:nvGrpSpPr>
            <p:cNvPr name="Group 9" id="9"/>
            <p:cNvGrpSpPr/>
            <p:nvPr/>
          </p:nvGrpSpPr>
          <p:grpSpPr>
            <a:xfrm rot="0">
              <a:off x="0" y="0"/>
              <a:ext cx="4710708" cy="999488"/>
              <a:chOff x="0" y="0"/>
              <a:chExt cx="1602149" cy="339934"/>
            </a:xfrm>
          </p:grpSpPr>
          <p:sp>
            <p:nvSpPr>
              <p:cNvPr name="Freeform 10" id="10"/>
              <p:cNvSpPr/>
              <p:nvPr/>
            </p:nvSpPr>
            <p:spPr>
              <a:xfrm flipH="false" flipV="false" rot="0">
                <a:off x="0" y="0"/>
                <a:ext cx="1602149" cy="339934"/>
              </a:xfrm>
              <a:custGeom>
                <a:avLst/>
                <a:gdLst/>
                <a:ahLst/>
                <a:cxnLst/>
                <a:rect r="r" b="b" t="t" l="l"/>
                <a:pathLst>
                  <a:path h="339934" w="1602149">
                    <a:moveTo>
                      <a:pt x="0" y="0"/>
                    </a:moveTo>
                    <a:lnTo>
                      <a:pt x="1602149" y="0"/>
                    </a:lnTo>
                    <a:lnTo>
                      <a:pt x="1602149" y="339934"/>
                    </a:lnTo>
                    <a:lnTo>
                      <a:pt x="0" y="339934"/>
                    </a:lnTo>
                    <a:close/>
                  </a:path>
                </a:pathLst>
              </a:custGeom>
              <a:solidFill>
                <a:srgbClr val="FFFFFF"/>
              </a:solidFill>
              <a:ln w="19050" cap="sq">
                <a:solidFill>
                  <a:srgbClr val="545454"/>
                </a:solidFill>
                <a:prstDash val="solid"/>
                <a:miter/>
              </a:ln>
            </p:spPr>
          </p:sp>
          <p:sp>
            <p:nvSpPr>
              <p:cNvPr name="TextBox 11" id="11"/>
              <p:cNvSpPr txBox="true"/>
              <p:nvPr/>
            </p:nvSpPr>
            <p:spPr>
              <a:xfrm>
                <a:off x="0" y="-47625"/>
                <a:ext cx="1602149" cy="387559"/>
              </a:xfrm>
              <a:prstGeom prst="rect">
                <a:avLst/>
              </a:prstGeom>
            </p:spPr>
            <p:txBody>
              <a:bodyPr anchor="ctr" rtlCol="false" tIns="50800" lIns="50800" bIns="50800" rIns="50800"/>
              <a:lstStyle/>
              <a:p>
                <a:pPr algn="ctr">
                  <a:lnSpc>
                    <a:spcPts val="2519"/>
                  </a:lnSpc>
                </a:pPr>
              </a:p>
            </p:txBody>
          </p:sp>
        </p:grpSp>
        <p:sp>
          <p:nvSpPr>
            <p:cNvPr name="TextBox 12" id="12"/>
            <p:cNvSpPr txBox="true"/>
            <p:nvPr/>
          </p:nvSpPr>
          <p:spPr>
            <a:xfrm rot="0">
              <a:off x="188902" y="181821"/>
              <a:ext cx="4449935" cy="578697"/>
            </a:xfrm>
            <a:prstGeom prst="rect">
              <a:avLst/>
            </a:prstGeom>
          </p:spPr>
          <p:txBody>
            <a:bodyPr anchor="t" rtlCol="false" tIns="0" lIns="0" bIns="0" rIns="0">
              <a:spAutoFit/>
            </a:bodyPr>
            <a:lstStyle/>
            <a:p>
              <a:pPr algn="l">
                <a:lnSpc>
                  <a:spcPts val="3639"/>
                </a:lnSpc>
                <a:spcBef>
                  <a:spcPct val="0"/>
                </a:spcBef>
              </a:pPr>
              <a:r>
                <a:rPr lang="en-US" sz="2599" b="true">
                  <a:solidFill>
                    <a:srgbClr val="545454"/>
                  </a:solidFill>
                  <a:latin typeface="Work Sans Bold"/>
                  <a:ea typeface="Work Sans Bold"/>
                  <a:cs typeface="Work Sans Bold"/>
                  <a:sym typeface="Work Sans Bold"/>
                </a:rPr>
                <a:t>Problem Statement</a:t>
              </a:r>
            </a:p>
          </p:txBody>
        </p:sp>
      </p:grpSp>
      <p:sp>
        <p:nvSpPr>
          <p:cNvPr name="TextBox 13" id="13"/>
          <p:cNvSpPr txBox="true"/>
          <p:nvPr/>
        </p:nvSpPr>
        <p:spPr>
          <a:xfrm rot="0">
            <a:off x="868306" y="8229742"/>
            <a:ext cx="15929311" cy="1417320"/>
          </a:xfrm>
          <a:prstGeom prst="rect">
            <a:avLst/>
          </a:prstGeom>
        </p:spPr>
        <p:txBody>
          <a:bodyPr anchor="t" rtlCol="false" tIns="0" lIns="0" bIns="0" rIns="0">
            <a:spAutoFit/>
          </a:bodyPr>
          <a:lstStyle/>
          <a:p>
            <a:pPr algn="l">
              <a:lnSpc>
                <a:spcPts val="3779"/>
              </a:lnSpc>
              <a:spcBef>
                <a:spcPct val="0"/>
              </a:spcBef>
            </a:pPr>
            <a:r>
              <a:rPr lang="en-US" b="true" sz="2700">
                <a:solidFill>
                  <a:srgbClr val="545454"/>
                </a:solidFill>
                <a:latin typeface="Canva Sans Bold"/>
                <a:ea typeface="Canva Sans Bold"/>
                <a:cs typeface="Canva Sans Bold"/>
                <a:sym typeface="Canva Sans Bold"/>
              </a:rPr>
              <a:t>REC</a:t>
            </a:r>
            <a:r>
              <a:rPr lang="en-US" b="true" sz="2700">
                <a:solidFill>
                  <a:srgbClr val="545454"/>
                </a:solidFill>
                <a:latin typeface="Canva Sans Bold"/>
                <a:ea typeface="Canva Sans Bold"/>
                <a:cs typeface="Canva Sans Bold"/>
                <a:sym typeface="Canva Sans Bold"/>
              </a:rPr>
              <a:t>OMMEND SUITABLE KOHLER PRODUCTS BASED ON THE USER’S ACTUAL REQUIREMENTS </a:t>
            </a:r>
          </a:p>
          <a:p>
            <a:pPr algn="l">
              <a:lnSpc>
                <a:spcPts val="3779"/>
              </a:lnSpc>
              <a:spcBef>
                <a:spcPct val="0"/>
              </a:spcBef>
            </a:pPr>
            <a:r>
              <a:rPr lang="en-US" b="true" sz="2700">
                <a:solidFill>
                  <a:srgbClr val="545454"/>
                </a:solidFill>
                <a:latin typeface="Canva Sans Bold"/>
                <a:ea typeface="Canva Sans Bold"/>
                <a:cs typeface="Canva Sans Bold"/>
                <a:sym typeface="Canva Sans Bold"/>
              </a:rPr>
              <a:t>COMBINING AI-BASED VISUAL ANALYSIS TO SIMPLIFY BATHROOM AND KITCHEN PRODUCT SELECTION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144000" cy="9258300"/>
            <a:chOff x="0" y="0"/>
            <a:chExt cx="3401895" cy="3444419"/>
          </a:xfrm>
        </p:grpSpPr>
        <p:sp>
          <p:nvSpPr>
            <p:cNvPr name="Freeform 3" id="3"/>
            <p:cNvSpPr/>
            <p:nvPr/>
          </p:nvSpPr>
          <p:spPr>
            <a:xfrm flipH="false" flipV="false" rot="0">
              <a:off x="0" y="0"/>
              <a:ext cx="3401895" cy="3444419"/>
            </a:xfrm>
            <a:custGeom>
              <a:avLst/>
              <a:gdLst/>
              <a:ahLst/>
              <a:cxnLst/>
              <a:rect r="r" b="b" t="t" l="l"/>
              <a:pathLst>
                <a:path h="3444419" w="3401895">
                  <a:moveTo>
                    <a:pt x="0" y="0"/>
                  </a:moveTo>
                  <a:lnTo>
                    <a:pt x="3401895" y="0"/>
                  </a:lnTo>
                  <a:lnTo>
                    <a:pt x="3401895" y="3444419"/>
                  </a:lnTo>
                  <a:lnTo>
                    <a:pt x="0" y="3444419"/>
                  </a:lnTo>
                  <a:close/>
                </a:path>
              </a:pathLst>
            </a:custGeom>
            <a:blipFill>
              <a:blip r:embed="rId2"/>
              <a:stretch>
                <a:fillRect l="-3835" t="0" r="-3835" b="0"/>
              </a:stretch>
            </a:blipFill>
          </p:spPr>
        </p:sp>
      </p:grpSp>
      <p:grpSp>
        <p:nvGrpSpPr>
          <p:cNvPr name="Group 4" id="4"/>
          <p:cNvGrpSpPr/>
          <p:nvPr/>
        </p:nvGrpSpPr>
        <p:grpSpPr>
          <a:xfrm rot="0">
            <a:off x="16094471" y="4458628"/>
            <a:ext cx="1164829" cy="5828372"/>
            <a:chOff x="0" y="0"/>
            <a:chExt cx="306786" cy="1535045"/>
          </a:xfrm>
        </p:grpSpPr>
        <p:sp>
          <p:nvSpPr>
            <p:cNvPr name="Freeform 5" id="5"/>
            <p:cNvSpPr/>
            <p:nvPr/>
          </p:nvSpPr>
          <p:spPr>
            <a:xfrm flipH="false" flipV="false" rot="0">
              <a:off x="0" y="0"/>
              <a:ext cx="306786" cy="1535044"/>
            </a:xfrm>
            <a:custGeom>
              <a:avLst/>
              <a:gdLst/>
              <a:ahLst/>
              <a:cxnLst/>
              <a:rect r="r" b="b" t="t" l="l"/>
              <a:pathLst>
                <a:path h="1535044" w="306786">
                  <a:moveTo>
                    <a:pt x="0" y="0"/>
                  </a:moveTo>
                  <a:lnTo>
                    <a:pt x="306786" y="0"/>
                  </a:lnTo>
                  <a:lnTo>
                    <a:pt x="306786" y="1535044"/>
                  </a:lnTo>
                  <a:lnTo>
                    <a:pt x="0" y="1535044"/>
                  </a:lnTo>
                  <a:close/>
                </a:path>
              </a:pathLst>
            </a:custGeom>
            <a:solidFill>
              <a:srgbClr val="545454"/>
            </a:solidFill>
          </p:spPr>
        </p:sp>
        <p:sp>
          <p:nvSpPr>
            <p:cNvPr name="TextBox 6" id="6"/>
            <p:cNvSpPr txBox="true"/>
            <p:nvPr/>
          </p:nvSpPr>
          <p:spPr>
            <a:xfrm>
              <a:off x="0" y="-47625"/>
              <a:ext cx="306786" cy="1582670"/>
            </a:xfrm>
            <a:prstGeom prst="rect">
              <a:avLst/>
            </a:prstGeom>
          </p:spPr>
          <p:txBody>
            <a:bodyPr anchor="ctr" rtlCol="false" tIns="50800" lIns="50800" bIns="50800" rIns="50800"/>
            <a:lstStyle/>
            <a:p>
              <a:pPr algn="ctr">
                <a:lnSpc>
                  <a:spcPts val="2519"/>
                </a:lnSpc>
              </a:pPr>
            </a:p>
          </p:txBody>
        </p:sp>
      </p:grpSp>
      <p:grpSp>
        <p:nvGrpSpPr>
          <p:cNvPr name="Group 7" id="7"/>
          <p:cNvGrpSpPr/>
          <p:nvPr/>
        </p:nvGrpSpPr>
        <p:grpSpPr>
          <a:xfrm rot="0">
            <a:off x="730373" y="437619"/>
            <a:ext cx="3533031" cy="749616"/>
            <a:chOff x="0" y="0"/>
            <a:chExt cx="4710708" cy="999488"/>
          </a:xfrm>
        </p:grpSpPr>
        <p:grpSp>
          <p:nvGrpSpPr>
            <p:cNvPr name="Group 8" id="8"/>
            <p:cNvGrpSpPr/>
            <p:nvPr/>
          </p:nvGrpSpPr>
          <p:grpSpPr>
            <a:xfrm rot="0">
              <a:off x="0" y="0"/>
              <a:ext cx="4710708" cy="999488"/>
              <a:chOff x="0" y="0"/>
              <a:chExt cx="1602149" cy="339934"/>
            </a:xfrm>
          </p:grpSpPr>
          <p:sp>
            <p:nvSpPr>
              <p:cNvPr name="Freeform 9" id="9"/>
              <p:cNvSpPr/>
              <p:nvPr/>
            </p:nvSpPr>
            <p:spPr>
              <a:xfrm flipH="false" flipV="false" rot="0">
                <a:off x="0" y="0"/>
                <a:ext cx="1602149" cy="339934"/>
              </a:xfrm>
              <a:custGeom>
                <a:avLst/>
                <a:gdLst/>
                <a:ahLst/>
                <a:cxnLst/>
                <a:rect r="r" b="b" t="t" l="l"/>
                <a:pathLst>
                  <a:path h="339934" w="1602149">
                    <a:moveTo>
                      <a:pt x="0" y="0"/>
                    </a:moveTo>
                    <a:lnTo>
                      <a:pt x="1602149" y="0"/>
                    </a:lnTo>
                    <a:lnTo>
                      <a:pt x="1602149" y="339934"/>
                    </a:lnTo>
                    <a:lnTo>
                      <a:pt x="0" y="339934"/>
                    </a:lnTo>
                    <a:close/>
                  </a:path>
                </a:pathLst>
              </a:custGeom>
              <a:solidFill>
                <a:srgbClr val="FFFFFF"/>
              </a:solidFill>
              <a:ln w="19050" cap="sq">
                <a:solidFill>
                  <a:srgbClr val="545454"/>
                </a:solidFill>
                <a:prstDash val="solid"/>
                <a:miter/>
              </a:ln>
            </p:spPr>
          </p:sp>
          <p:sp>
            <p:nvSpPr>
              <p:cNvPr name="TextBox 10" id="10"/>
              <p:cNvSpPr txBox="true"/>
              <p:nvPr/>
            </p:nvSpPr>
            <p:spPr>
              <a:xfrm>
                <a:off x="0" y="-47625"/>
                <a:ext cx="1602149" cy="387559"/>
              </a:xfrm>
              <a:prstGeom prst="rect">
                <a:avLst/>
              </a:prstGeom>
            </p:spPr>
            <p:txBody>
              <a:bodyPr anchor="ctr" rtlCol="false" tIns="50800" lIns="50800" bIns="50800" rIns="50800"/>
              <a:lstStyle/>
              <a:p>
                <a:pPr algn="ctr">
                  <a:lnSpc>
                    <a:spcPts val="2519"/>
                  </a:lnSpc>
                </a:pPr>
              </a:p>
            </p:txBody>
          </p:sp>
        </p:grpSp>
        <p:sp>
          <p:nvSpPr>
            <p:cNvPr name="TextBox 11" id="11"/>
            <p:cNvSpPr txBox="true"/>
            <p:nvPr/>
          </p:nvSpPr>
          <p:spPr>
            <a:xfrm rot="0">
              <a:off x="393403" y="172507"/>
              <a:ext cx="3923903" cy="622724"/>
            </a:xfrm>
            <a:prstGeom prst="rect">
              <a:avLst/>
            </a:prstGeom>
          </p:spPr>
          <p:txBody>
            <a:bodyPr anchor="t" rtlCol="false" tIns="0" lIns="0" bIns="0" rIns="0">
              <a:spAutoFit/>
            </a:bodyPr>
            <a:lstStyle/>
            <a:p>
              <a:pPr algn="ctr">
                <a:lnSpc>
                  <a:spcPts val="3919"/>
                </a:lnSpc>
                <a:spcBef>
                  <a:spcPct val="0"/>
                </a:spcBef>
              </a:pPr>
              <a:r>
                <a:rPr lang="en-US" sz="2799">
                  <a:solidFill>
                    <a:srgbClr val="545454"/>
                  </a:solidFill>
                  <a:latin typeface="Anton"/>
                  <a:ea typeface="Anton"/>
                  <a:cs typeface="Anton"/>
                  <a:sym typeface="Anton"/>
                </a:rPr>
                <a:t>SOLUTION</a:t>
              </a:r>
            </a:p>
          </p:txBody>
        </p:sp>
      </p:grpSp>
      <p:sp>
        <p:nvSpPr>
          <p:cNvPr name="Freeform 12" id="12"/>
          <p:cNvSpPr/>
          <p:nvPr/>
        </p:nvSpPr>
        <p:spPr>
          <a:xfrm flipH="false" flipV="false" rot="0">
            <a:off x="4570057" y="2666720"/>
            <a:ext cx="4804359" cy="7496521"/>
          </a:xfrm>
          <a:custGeom>
            <a:avLst/>
            <a:gdLst/>
            <a:ahLst/>
            <a:cxnLst/>
            <a:rect r="r" b="b" t="t" l="l"/>
            <a:pathLst>
              <a:path h="7496521" w="4804359">
                <a:moveTo>
                  <a:pt x="0" y="0"/>
                </a:moveTo>
                <a:lnTo>
                  <a:pt x="4804358" y="0"/>
                </a:lnTo>
                <a:lnTo>
                  <a:pt x="4804358" y="7496522"/>
                </a:lnTo>
                <a:lnTo>
                  <a:pt x="0" y="7496522"/>
                </a:lnTo>
                <a:lnTo>
                  <a:pt x="0" y="0"/>
                </a:lnTo>
                <a:close/>
              </a:path>
            </a:pathLst>
          </a:custGeom>
          <a:blipFill>
            <a:blip r:embed="rId3"/>
            <a:stretch>
              <a:fillRect l="0" t="-10768" r="0" b="-8645"/>
            </a:stretch>
          </a:blipFill>
        </p:spPr>
      </p:sp>
      <p:sp>
        <p:nvSpPr>
          <p:cNvPr name="TextBox 13" id="13"/>
          <p:cNvSpPr txBox="true"/>
          <p:nvPr/>
        </p:nvSpPr>
        <p:spPr>
          <a:xfrm rot="0">
            <a:off x="730373" y="1516870"/>
            <a:ext cx="7887188" cy="1480186"/>
          </a:xfrm>
          <a:prstGeom prst="rect">
            <a:avLst/>
          </a:prstGeom>
        </p:spPr>
        <p:txBody>
          <a:bodyPr anchor="t" rtlCol="false" tIns="0" lIns="0" bIns="0" rIns="0">
            <a:spAutoFit/>
          </a:bodyPr>
          <a:lstStyle/>
          <a:p>
            <a:pPr algn="l">
              <a:lnSpc>
                <a:spcPts val="2939"/>
              </a:lnSpc>
              <a:spcBef>
                <a:spcPct val="0"/>
              </a:spcBef>
            </a:pPr>
            <a:r>
              <a:rPr lang="en-US" sz="2099">
                <a:solidFill>
                  <a:srgbClr val="545454"/>
                </a:solidFill>
                <a:latin typeface="Work Sans"/>
                <a:ea typeface="Work Sans"/>
                <a:cs typeface="Work Sans"/>
                <a:sym typeface="Work Sans"/>
              </a:rPr>
              <a:t>AN AI-powered reccomendation system that understands the user’s existing fixture, requirements and availbale space, then identifies suitable KOHLER products from the product catalog</a:t>
            </a:r>
          </a:p>
        </p:txBody>
      </p:sp>
      <p:sp>
        <p:nvSpPr>
          <p:cNvPr name="TextBox 14" id="14"/>
          <p:cNvSpPr txBox="true"/>
          <p:nvPr/>
        </p:nvSpPr>
        <p:spPr>
          <a:xfrm rot="0">
            <a:off x="730373" y="3475941"/>
            <a:ext cx="4211536" cy="2966085"/>
          </a:xfrm>
          <a:prstGeom prst="rect">
            <a:avLst/>
          </a:prstGeom>
        </p:spPr>
        <p:txBody>
          <a:bodyPr anchor="t" rtlCol="false" tIns="0" lIns="0" bIns="0" rIns="0">
            <a:spAutoFit/>
          </a:bodyPr>
          <a:lstStyle/>
          <a:p>
            <a:pPr algn="l">
              <a:lnSpc>
                <a:spcPts val="2939"/>
              </a:lnSpc>
            </a:pPr>
            <a:r>
              <a:rPr lang="en-US" sz="2099" b="true">
                <a:solidFill>
                  <a:srgbClr val="545454"/>
                </a:solidFill>
                <a:latin typeface="Work Sans Bold"/>
                <a:ea typeface="Work Sans Bold"/>
                <a:cs typeface="Work Sans Bold"/>
                <a:sym typeface="Work Sans Bold"/>
              </a:rPr>
              <a:t>PRODUCT EXPERIENCE</a:t>
            </a:r>
          </a:p>
          <a:p>
            <a:pPr algn="l">
              <a:lnSpc>
                <a:spcPts val="2939"/>
              </a:lnSpc>
            </a:pPr>
          </a:p>
          <a:p>
            <a:pPr algn="l" marL="453388" indent="-226694" lvl="1">
              <a:lnSpc>
                <a:spcPts val="2939"/>
              </a:lnSpc>
              <a:buAutoNum type="arabicPeriod" startAt="1"/>
            </a:pPr>
            <a:r>
              <a:rPr lang="en-US" sz="2099">
                <a:solidFill>
                  <a:srgbClr val="545454"/>
                </a:solidFill>
                <a:latin typeface="Work Sans"/>
                <a:ea typeface="Work Sans"/>
                <a:cs typeface="Work Sans"/>
                <a:sym typeface="Work Sans"/>
              </a:rPr>
              <a:t>Scan &amp; Understand</a:t>
            </a:r>
          </a:p>
          <a:p>
            <a:pPr algn="l" marL="453388" indent="-226694" lvl="1">
              <a:lnSpc>
                <a:spcPts val="2939"/>
              </a:lnSpc>
              <a:buAutoNum type="arabicPeriod" startAt="1"/>
            </a:pPr>
            <a:r>
              <a:rPr lang="en-US" sz="2099">
                <a:solidFill>
                  <a:srgbClr val="545454"/>
                </a:solidFill>
                <a:latin typeface="Work Sans"/>
                <a:ea typeface="Work Sans"/>
                <a:cs typeface="Work Sans"/>
                <a:sym typeface="Work Sans"/>
              </a:rPr>
              <a:t>Tell us about your space</a:t>
            </a:r>
          </a:p>
          <a:p>
            <a:pPr algn="l" marL="453388" indent="-226694" lvl="1">
              <a:lnSpc>
                <a:spcPts val="2939"/>
              </a:lnSpc>
              <a:buAutoNum type="arabicPeriod" startAt="1"/>
            </a:pPr>
            <a:r>
              <a:rPr lang="en-US" sz="2099">
                <a:solidFill>
                  <a:srgbClr val="545454"/>
                </a:solidFill>
                <a:latin typeface="Work Sans"/>
                <a:ea typeface="Work Sans"/>
                <a:cs typeface="Work Sans"/>
                <a:sym typeface="Work Sans"/>
              </a:rPr>
              <a:t>Get personalized recommendations</a:t>
            </a:r>
          </a:p>
          <a:p>
            <a:pPr algn="l" marL="453388" indent="-226694" lvl="1">
              <a:lnSpc>
                <a:spcPts val="2939"/>
              </a:lnSpc>
              <a:buAutoNum type="arabicPeriod" startAt="1"/>
            </a:pPr>
            <a:r>
              <a:rPr lang="en-US" sz="2099">
                <a:solidFill>
                  <a:srgbClr val="545454"/>
                </a:solidFill>
                <a:latin typeface="Work Sans"/>
                <a:ea typeface="Work Sans"/>
                <a:cs typeface="Work Sans"/>
                <a:sym typeface="Work Sans"/>
              </a:rPr>
              <a:t>Build the complete space</a:t>
            </a:r>
          </a:p>
          <a:p>
            <a:pPr algn="l" marL="453388" indent="-226694" lvl="1">
              <a:lnSpc>
                <a:spcPts val="2939"/>
              </a:lnSpc>
              <a:buAutoNum type="arabicPeriod" startAt="1"/>
            </a:pPr>
            <a:r>
              <a:rPr lang="en-US" sz="2099">
                <a:solidFill>
                  <a:srgbClr val="545454"/>
                </a:solidFill>
                <a:latin typeface="Work Sans"/>
                <a:ea typeface="Work Sans"/>
                <a:cs typeface="Work Sans"/>
                <a:sym typeface="Work Sans"/>
              </a:rPr>
              <a:t>Visualize the space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0373" y="437619"/>
            <a:ext cx="4557943" cy="903279"/>
            <a:chOff x="0" y="0"/>
            <a:chExt cx="6077257" cy="1204372"/>
          </a:xfrm>
        </p:grpSpPr>
        <p:grpSp>
          <p:nvGrpSpPr>
            <p:cNvPr name="Group 3" id="3"/>
            <p:cNvGrpSpPr/>
            <p:nvPr/>
          </p:nvGrpSpPr>
          <p:grpSpPr>
            <a:xfrm rot="0">
              <a:off x="0" y="0"/>
              <a:ext cx="6077257" cy="1204372"/>
              <a:chOff x="0" y="0"/>
              <a:chExt cx="2066923" cy="409616"/>
            </a:xfrm>
          </p:grpSpPr>
          <p:sp>
            <p:nvSpPr>
              <p:cNvPr name="Freeform 4" id="4"/>
              <p:cNvSpPr/>
              <p:nvPr/>
            </p:nvSpPr>
            <p:spPr>
              <a:xfrm flipH="false" flipV="false" rot="0">
                <a:off x="0" y="0"/>
                <a:ext cx="2066923" cy="409616"/>
              </a:xfrm>
              <a:custGeom>
                <a:avLst/>
                <a:gdLst/>
                <a:ahLst/>
                <a:cxnLst/>
                <a:rect r="r" b="b" t="t" l="l"/>
                <a:pathLst>
                  <a:path h="409616" w="2066923">
                    <a:moveTo>
                      <a:pt x="0" y="0"/>
                    </a:moveTo>
                    <a:lnTo>
                      <a:pt x="2066923" y="0"/>
                    </a:lnTo>
                    <a:lnTo>
                      <a:pt x="2066923" y="409616"/>
                    </a:lnTo>
                    <a:lnTo>
                      <a:pt x="0" y="409616"/>
                    </a:lnTo>
                    <a:close/>
                  </a:path>
                </a:pathLst>
              </a:custGeom>
              <a:solidFill>
                <a:srgbClr val="FFFFFF"/>
              </a:solidFill>
              <a:ln w="19050" cap="sq">
                <a:solidFill>
                  <a:srgbClr val="545454"/>
                </a:solidFill>
                <a:prstDash val="solid"/>
                <a:miter/>
              </a:ln>
            </p:spPr>
          </p:sp>
          <p:sp>
            <p:nvSpPr>
              <p:cNvPr name="TextBox 5" id="5"/>
              <p:cNvSpPr txBox="true"/>
              <p:nvPr/>
            </p:nvSpPr>
            <p:spPr>
              <a:xfrm>
                <a:off x="0" y="-47625"/>
                <a:ext cx="2066923" cy="457241"/>
              </a:xfrm>
              <a:prstGeom prst="rect">
                <a:avLst/>
              </a:prstGeom>
            </p:spPr>
            <p:txBody>
              <a:bodyPr anchor="ctr" rtlCol="false" tIns="50800" lIns="50800" bIns="50800" rIns="50800"/>
              <a:lstStyle/>
              <a:p>
                <a:pPr algn="ctr">
                  <a:lnSpc>
                    <a:spcPts val="2519"/>
                  </a:lnSpc>
                </a:pPr>
              </a:p>
            </p:txBody>
          </p:sp>
        </p:grpSp>
        <p:sp>
          <p:nvSpPr>
            <p:cNvPr name="TextBox 6" id="6"/>
            <p:cNvSpPr txBox="true"/>
            <p:nvPr/>
          </p:nvSpPr>
          <p:spPr>
            <a:xfrm rot="0">
              <a:off x="507526" y="172507"/>
              <a:ext cx="5282576" cy="622724"/>
            </a:xfrm>
            <a:prstGeom prst="rect">
              <a:avLst/>
            </a:prstGeom>
          </p:spPr>
          <p:txBody>
            <a:bodyPr anchor="t" rtlCol="false" tIns="0" lIns="0" bIns="0" rIns="0">
              <a:spAutoFit/>
            </a:bodyPr>
            <a:lstStyle/>
            <a:p>
              <a:pPr algn="ctr">
                <a:lnSpc>
                  <a:spcPts val="3919"/>
                </a:lnSpc>
                <a:spcBef>
                  <a:spcPct val="0"/>
                </a:spcBef>
              </a:pPr>
              <a:r>
                <a:rPr lang="en-US" sz="2799">
                  <a:solidFill>
                    <a:srgbClr val="545454"/>
                  </a:solidFill>
                  <a:latin typeface="Anton"/>
                  <a:ea typeface="Anton"/>
                  <a:cs typeface="Anton"/>
                  <a:sym typeface="Anton"/>
                </a:rPr>
                <a:t>SCAN AND UNDERSTAND</a:t>
              </a:r>
            </a:p>
          </p:txBody>
        </p:sp>
      </p:grpSp>
      <p:sp>
        <p:nvSpPr>
          <p:cNvPr name="Freeform 7" id="7"/>
          <p:cNvSpPr/>
          <p:nvPr/>
        </p:nvSpPr>
        <p:spPr>
          <a:xfrm flipH="false" flipV="false" rot="0">
            <a:off x="7054941" y="437619"/>
            <a:ext cx="10962460" cy="5798746"/>
          </a:xfrm>
          <a:custGeom>
            <a:avLst/>
            <a:gdLst/>
            <a:ahLst/>
            <a:cxnLst/>
            <a:rect r="r" b="b" t="t" l="l"/>
            <a:pathLst>
              <a:path h="5798746" w="10962460">
                <a:moveTo>
                  <a:pt x="0" y="0"/>
                </a:moveTo>
                <a:lnTo>
                  <a:pt x="10962460" y="0"/>
                </a:lnTo>
                <a:lnTo>
                  <a:pt x="10962460" y="5798746"/>
                </a:lnTo>
                <a:lnTo>
                  <a:pt x="0" y="5798746"/>
                </a:lnTo>
                <a:lnTo>
                  <a:pt x="0" y="0"/>
                </a:lnTo>
                <a:close/>
              </a:path>
            </a:pathLst>
          </a:custGeom>
          <a:blipFill>
            <a:blip r:embed="rId2"/>
            <a:stretch>
              <a:fillRect l="-14806" t="0" r="-14806" b="-9038"/>
            </a:stretch>
          </a:blipFill>
        </p:spPr>
      </p:sp>
      <p:sp>
        <p:nvSpPr>
          <p:cNvPr name="Freeform 8" id="8"/>
          <p:cNvSpPr/>
          <p:nvPr/>
        </p:nvSpPr>
        <p:spPr>
          <a:xfrm flipH="false" flipV="false" rot="0">
            <a:off x="528215" y="6033814"/>
            <a:ext cx="7143917" cy="3868659"/>
          </a:xfrm>
          <a:custGeom>
            <a:avLst/>
            <a:gdLst/>
            <a:ahLst/>
            <a:cxnLst/>
            <a:rect r="r" b="b" t="t" l="l"/>
            <a:pathLst>
              <a:path h="3868659" w="7143917">
                <a:moveTo>
                  <a:pt x="0" y="0"/>
                </a:moveTo>
                <a:lnTo>
                  <a:pt x="7143918" y="0"/>
                </a:lnTo>
                <a:lnTo>
                  <a:pt x="7143918" y="3868658"/>
                </a:lnTo>
                <a:lnTo>
                  <a:pt x="0" y="3868658"/>
                </a:lnTo>
                <a:lnTo>
                  <a:pt x="0" y="0"/>
                </a:lnTo>
                <a:close/>
              </a:path>
            </a:pathLst>
          </a:custGeom>
          <a:blipFill>
            <a:blip r:embed="rId3"/>
            <a:stretch>
              <a:fillRect l="0" t="0" r="0" b="0"/>
            </a:stretch>
          </a:blipFill>
        </p:spPr>
      </p:sp>
      <p:sp>
        <p:nvSpPr>
          <p:cNvPr name="TextBox 9" id="9"/>
          <p:cNvSpPr txBox="true"/>
          <p:nvPr/>
        </p:nvSpPr>
        <p:spPr>
          <a:xfrm rot="0">
            <a:off x="730373" y="2018300"/>
            <a:ext cx="6199228" cy="1887855"/>
          </a:xfrm>
          <a:prstGeom prst="rect">
            <a:avLst/>
          </a:prstGeom>
        </p:spPr>
        <p:txBody>
          <a:bodyPr anchor="t" rtlCol="false" tIns="0" lIns="0" bIns="0" rIns="0">
            <a:spAutoFit/>
          </a:bodyPr>
          <a:lstStyle/>
          <a:p>
            <a:pPr algn="l">
              <a:lnSpc>
                <a:spcPts val="2519"/>
              </a:lnSpc>
            </a:pPr>
            <a:r>
              <a:rPr lang="en-US" sz="1799">
                <a:solidFill>
                  <a:srgbClr val="545454"/>
                </a:solidFill>
                <a:latin typeface="Work Sans"/>
                <a:ea typeface="Work Sans"/>
                <a:cs typeface="Work Sans"/>
                <a:sym typeface="Work Sans"/>
              </a:rPr>
              <a:t>Our AI analyzes the image to identify</a:t>
            </a:r>
          </a:p>
          <a:p>
            <a:pPr algn="l" marL="388618" indent="-194309" lvl="1">
              <a:lnSpc>
                <a:spcPts val="2519"/>
              </a:lnSpc>
              <a:buFont typeface="Arial"/>
              <a:buChar char="•"/>
            </a:pPr>
            <a:r>
              <a:rPr lang="en-US" b="true" sz="1799">
                <a:solidFill>
                  <a:srgbClr val="545454"/>
                </a:solidFill>
                <a:latin typeface="Work Sans Bold"/>
                <a:ea typeface="Work Sans Bold"/>
                <a:cs typeface="Work Sans Bold"/>
                <a:sym typeface="Work Sans Bold"/>
              </a:rPr>
              <a:t>Fixture type</a:t>
            </a:r>
            <a:r>
              <a:rPr lang="en-US" sz="1799">
                <a:solidFill>
                  <a:srgbClr val="545454"/>
                </a:solidFill>
                <a:latin typeface="Work Sans"/>
                <a:ea typeface="Work Sans"/>
                <a:cs typeface="Work Sans"/>
                <a:sym typeface="Work Sans"/>
              </a:rPr>
              <a:t>- eg toilet, washbasin, faucet, sink</a:t>
            </a:r>
          </a:p>
          <a:p>
            <a:pPr algn="l" marL="388618" indent="-194309" lvl="1">
              <a:lnSpc>
                <a:spcPts val="2519"/>
              </a:lnSpc>
              <a:buFont typeface="Arial"/>
              <a:buChar char="•"/>
            </a:pPr>
            <a:r>
              <a:rPr lang="en-US" b="true" sz="1799">
                <a:solidFill>
                  <a:srgbClr val="545454"/>
                </a:solidFill>
                <a:latin typeface="Work Sans Bold"/>
                <a:ea typeface="Work Sans Bold"/>
                <a:cs typeface="Work Sans Bold"/>
                <a:sym typeface="Work Sans Bold"/>
              </a:rPr>
              <a:t>Possible issue</a:t>
            </a:r>
            <a:r>
              <a:rPr lang="en-US" sz="1799">
                <a:solidFill>
                  <a:srgbClr val="545454"/>
                </a:solidFill>
                <a:latin typeface="Work Sans"/>
                <a:ea typeface="Work Sans"/>
                <a:cs typeface="Work Sans"/>
                <a:sym typeface="Work Sans"/>
              </a:rPr>
              <a:t>- eg leakage, damage, crack, corrosion</a:t>
            </a:r>
          </a:p>
          <a:p>
            <a:pPr algn="l" marL="388618" indent="-194309" lvl="1">
              <a:lnSpc>
                <a:spcPts val="2519"/>
              </a:lnSpc>
              <a:buFont typeface="Arial"/>
              <a:buChar char="•"/>
            </a:pPr>
            <a:r>
              <a:rPr lang="en-US" b="true" sz="1799">
                <a:solidFill>
                  <a:srgbClr val="545454"/>
                </a:solidFill>
                <a:latin typeface="Work Sans Bold"/>
                <a:ea typeface="Work Sans Bold"/>
                <a:cs typeface="Work Sans Bold"/>
                <a:sym typeface="Work Sans Bold"/>
              </a:rPr>
              <a:t>Detection confidence</a:t>
            </a:r>
            <a:r>
              <a:rPr lang="en-US" sz="1799">
                <a:solidFill>
                  <a:srgbClr val="545454"/>
                </a:solidFill>
                <a:latin typeface="Work Sans"/>
                <a:ea typeface="Work Sans"/>
                <a:cs typeface="Work Sans"/>
                <a:sym typeface="Work Sans"/>
              </a:rPr>
              <a:t>- indicates the model’s confidence in its analysis</a:t>
            </a:r>
          </a:p>
        </p:txBody>
      </p:sp>
      <p:sp>
        <p:nvSpPr>
          <p:cNvPr name="TextBox 10" id="10"/>
          <p:cNvSpPr txBox="true"/>
          <p:nvPr/>
        </p:nvSpPr>
        <p:spPr>
          <a:xfrm rot="0">
            <a:off x="730373" y="4011745"/>
            <a:ext cx="6324568" cy="1259205"/>
          </a:xfrm>
          <a:prstGeom prst="rect">
            <a:avLst/>
          </a:prstGeom>
        </p:spPr>
        <p:txBody>
          <a:bodyPr anchor="t" rtlCol="false" tIns="0" lIns="0" bIns="0" rIns="0">
            <a:spAutoFit/>
          </a:bodyPr>
          <a:lstStyle/>
          <a:p>
            <a:pPr algn="l">
              <a:lnSpc>
                <a:spcPts val="2519"/>
              </a:lnSpc>
            </a:pPr>
            <a:r>
              <a:rPr lang="en-US" sz="1799" b="true">
                <a:solidFill>
                  <a:srgbClr val="545454"/>
                </a:solidFill>
                <a:latin typeface="Work Sans Bold"/>
                <a:ea typeface="Work Sans Bold"/>
                <a:cs typeface="Work Sans Bold"/>
                <a:sym typeface="Work Sans Bold"/>
              </a:rPr>
              <a:t>User confirmation </a:t>
            </a:r>
          </a:p>
          <a:p>
            <a:pPr algn="l">
              <a:lnSpc>
                <a:spcPts val="2519"/>
              </a:lnSpc>
              <a:spcBef>
                <a:spcPct val="0"/>
              </a:spcBef>
            </a:pPr>
            <a:r>
              <a:rPr lang="en-US" sz="1799">
                <a:solidFill>
                  <a:srgbClr val="545454"/>
                </a:solidFill>
                <a:latin typeface="Work Sans"/>
                <a:ea typeface="Work Sans"/>
                <a:cs typeface="Work Sans"/>
                <a:sym typeface="Work Sans"/>
              </a:rPr>
              <a:t>The detected fixture and issue are presented to the user for confirmation before generating reccomendations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0373" y="437619"/>
            <a:ext cx="4557943" cy="903279"/>
            <a:chOff x="0" y="0"/>
            <a:chExt cx="6077257" cy="1204372"/>
          </a:xfrm>
        </p:grpSpPr>
        <p:grpSp>
          <p:nvGrpSpPr>
            <p:cNvPr name="Group 3" id="3"/>
            <p:cNvGrpSpPr/>
            <p:nvPr/>
          </p:nvGrpSpPr>
          <p:grpSpPr>
            <a:xfrm rot="0">
              <a:off x="0" y="0"/>
              <a:ext cx="6077257" cy="1204372"/>
              <a:chOff x="0" y="0"/>
              <a:chExt cx="2066923" cy="409616"/>
            </a:xfrm>
          </p:grpSpPr>
          <p:sp>
            <p:nvSpPr>
              <p:cNvPr name="Freeform 4" id="4"/>
              <p:cNvSpPr/>
              <p:nvPr/>
            </p:nvSpPr>
            <p:spPr>
              <a:xfrm flipH="false" flipV="false" rot="0">
                <a:off x="0" y="0"/>
                <a:ext cx="2066923" cy="409616"/>
              </a:xfrm>
              <a:custGeom>
                <a:avLst/>
                <a:gdLst/>
                <a:ahLst/>
                <a:cxnLst/>
                <a:rect r="r" b="b" t="t" l="l"/>
                <a:pathLst>
                  <a:path h="409616" w="2066923">
                    <a:moveTo>
                      <a:pt x="0" y="0"/>
                    </a:moveTo>
                    <a:lnTo>
                      <a:pt x="2066923" y="0"/>
                    </a:lnTo>
                    <a:lnTo>
                      <a:pt x="2066923" y="409616"/>
                    </a:lnTo>
                    <a:lnTo>
                      <a:pt x="0" y="409616"/>
                    </a:lnTo>
                    <a:close/>
                  </a:path>
                </a:pathLst>
              </a:custGeom>
              <a:solidFill>
                <a:srgbClr val="FFFFFF"/>
              </a:solidFill>
              <a:ln w="19050" cap="sq">
                <a:solidFill>
                  <a:srgbClr val="545454"/>
                </a:solidFill>
                <a:prstDash val="solid"/>
                <a:miter/>
              </a:ln>
            </p:spPr>
          </p:sp>
          <p:sp>
            <p:nvSpPr>
              <p:cNvPr name="TextBox 5" id="5"/>
              <p:cNvSpPr txBox="true"/>
              <p:nvPr/>
            </p:nvSpPr>
            <p:spPr>
              <a:xfrm>
                <a:off x="0" y="-47625"/>
                <a:ext cx="2066923" cy="457241"/>
              </a:xfrm>
              <a:prstGeom prst="rect">
                <a:avLst/>
              </a:prstGeom>
            </p:spPr>
            <p:txBody>
              <a:bodyPr anchor="ctr" rtlCol="false" tIns="50800" lIns="50800" bIns="50800" rIns="50800"/>
              <a:lstStyle/>
              <a:p>
                <a:pPr algn="ctr">
                  <a:lnSpc>
                    <a:spcPts val="2519"/>
                  </a:lnSpc>
                </a:pPr>
              </a:p>
            </p:txBody>
          </p:sp>
        </p:grpSp>
        <p:sp>
          <p:nvSpPr>
            <p:cNvPr name="TextBox 6" id="6"/>
            <p:cNvSpPr txBox="true"/>
            <p:nvPr/>
          </p:nvSpPr>
          <p:spPr>
            <a:xfrm rot="0">
              <a:off x="507526" y="172507"/>
              <a:ext cx="5282576" cy="622724"/>
            </a:xfrm>
            <a:prstGeom prst="rect">
              <a:avLst/>
            </a:prstGeom>
          </p:spPr>
          <p:txBody>
            <a:bodyPr anchor="t" rtlCol="false" tIns="0" lIns="0" bIns="0" rIns="0">
              <a:spAutoFit/>
            </a:bodyPr>
            <a:lstStyle/>
            <a:p>
              <a:pPr algn="ctr">
                <a:lnSpc>
                  <a:spcPts val="3919"/>
                </a:lnSpc>
                <a:spcBef>
                  <a:spcPct val="0"/>
                </a:spcBef>
              </a:pPr>
              <a:r>
                <a:rPr lang="en-US" sz="2799">
                  <a:solidFill>
                    <a:srgbClr val="545454"/>
                  </a:solidFill>
                  <a:latin typeface="Anton"/>
                  <a:ea typeface="Anton"/>
                  <a:cs typeface="Anton"/>
                  <a:sym typeface="Anton"/>
                </a:rPr>
                <a:t>TELL US ABOUT YOUR SPACE</a:t>
              </a:r>
            </a:p>
          </p:txBody>
        </p:sp>
      </p:grpSp>
      <p:sp>
        <p:nvSpPr>
          <p:cNvPr name="Freeform 7" id="7"/>
          <p:cNvSpPr/>
          <p:nvPr/>
        </p:nvSpPr>
        <p:spPr>
          <a:xfrm flipH="false" flipV="false" rot="0">
            <a:off x="12323222" y="5782579"/>
            <a:ext cx="5768248" cy="4062198"/>
          </a:xfrm>
          <a:custGeom>
            <a:avLst/>
            <a:gdLst/>
            <a:ahLst/>
            <a:cxnLst/>
            <a:rect r="r" b="b" t="t" l="l"/>
            <a:pathLst>
              <a:path h="4062198" w="5768248">
                <a:moveTo>
                  <a:pt x="0" y="0"/>
                </a:moveTo>
                <a:lnTo>
                  <a:pt x="5768248" y="0"/>
                </a:lnTo>
                <a:lnTo>
                  <a:pt x="5768248" y="4062199"/>
                </a:lnTo>
                <a:lnTo>
                  <a:pt x="0" y="4062199"/>
                </a:lnTo>
                <a:lnTo>
                  <a:pt x="0" y="0"/>
                </a:lnTo>
                <a:close/>
              </a:path>
            </a:pathLst>
          </a:custGeom>
          <a:blipFill>
            <a:blip r:embed="rId2"/>
            <a:stretch>
              <a:fillRect l="0" t="-12874" r="0" b="0"/>
            </a:stretch>
          </a:blipFill>
        </p:spPr>
      </p:sp>
      <p:sp>
        <p:nvSpPr>
          <p:cNvPr name="Freeform 8" id="8"/>
          <p:cNvSpPr/>
          <p:nvPr/>
        </p:nvSpPr>
        <p:spPr>
          <a:xfrm flipH="false" flipV="false" rot="0">
            <a:off x="760012" y="5782579"/>
            <a:ext cx="5058706" cy="4211057"/>
          </a:xfrm>
          <a:custGeom>
            <a:avLst/>
            <a:gdLst/>
            <a:ahLst/>
            <a:cxnLst/>
            <a:rect r="r" b="b" t="t" l="l"/>
            <a:pathLst>
              <a:path h="4211057" w="5058706">
                <a:moveTo>
                  <a:pt x="0" y="0"/>
                </a:moveTo>
                <a:lnTo>
                  <a:pt x="5058706" y="0"/>
                </a:lnTo>
                <a:lnTo>
                  <a:pt x="5058706" y="4211057"/>
                </a:lnTo>
                <a:lnTo>
                  <a:pt x="0" y="4211057"/>
                </a:lnTo>
                <a:lnTo>
                  <a:pt x="0" y="0"/>
                </a:lnTo>
                <a:close/>
              </a:path>
            </a:pathLst>
          </a:custGeom>
          <a:blipFill>
            <a:blip r:embed="rId3"/>
            <a:stretch>
              <a:fillRect l="-42" t="-12322" r="0" b="-8991"/>
            </a:stretch>
          </a:blipFill>
        </p:spPr>
      </p:sp>
      <p:sp>
        <p:nvSpPr>
          <p:cNvPr name="Freeform 9" id="9"/>
          <p:cNvSpPr/>
          <p:nvPr/>
        </p:nvSpPr>
        <p:spPr>
          <a:xfrm flipH="false" flipV="false" rot="0">
            <a:off x="6190022" y="4818649"/>
            <a:ext cx="5907956" cy="5204102"/>
          </a:xfrm>
          <a:custGeom>
            <a:avLst/>
            <a:gdLst/>
            <a:ahLst/>
            <a:cxnLst/>
            <a:rect r="r" b="b" t="t" l="l"/>
            <a:pathLst>
              <a:path h="5204102" w="5907956">
                <a:moveTo>
                  <a:pt x="0" y="0"/>
                </a:moveTo>
                <a:lnTo>
                  <a:pt x="5907956" y="0"/>
                </a:lnTo>
                <a:lnTo>
                  <a:pt x="5907956" y="5204103"/>
                </a:lnTo>
                <a:lnTo>
                  <a:pt x="0" y="5204103"/>
                </a:lnTo>
                <a:lnTo>
                  <a:pt x="0" y="0"/>
                </a:lnTo>
                <a:close/>
              </a:path>
            </a:pathLst>
          </a:custGeom>
          <a:blipFill>
            <a:blip r:embed="rId4"/>
            <a:stretch>
              <a:fillRect l="0" t="-13390" r="0" b="0"/>
            </a:stretch>
          </a:blipFill>
        </p:spPr>
      </p:sp>
      <p:sp>
        <p:nvSpPr>
          <p:cNvPr name="TextBox 10" id="10"/>
          <p:cNvSpPr txBox="true"/>
          <p:nvPr/>
        </p:nvSpPr>
        <p:spPr>
          <a:xfrm rot="0">
            <a:off x="730373" y="1543954"/>
            <a:ext cx="13394466" cy="737235"/>
          </a:xfrm>
          <a:prstGeom prst="rect">
            <a:avLst/>
          </a:prstGeom>
        </p:spPr>
        <p:txBody>
          <a:bodyPr anchor="t" rtlCol="false" tIns="0" lIns="0" bIns="0" rIns="0">
            <a:spAutoFit/>
          </a:bodyPr>
          <a:lstStyle/>
          <a:p>
            <a:pPr algn="l">
              <a:lnSpc>
                <a:spcPts val="2940"/>
              </a:lnSpc>
            </a:pPr>
            <a:r>
              <a:rPr lang="en-US" sz="2100" b="true">
                <a:solidFill>
                  <a:srgbClr val="545454"/>
                </a:solidFill>
                <a:latin typeface="Work Sans Bold"/>
                <a:ea typeface="Work Sans Bold"/>
                <a:cs typeface="Work Sans Bold"/>
                <a:sym typeface="Work Sans Bold"/>
              </a:rPr>
              <a:t>Personalize Reccomendations to Your space</a:t>
            </a:r>
          </a:p>
          <a:p>
            <a:pPr algn="l">
              <a:lnSpc>
                <a:spcPts val="2940"/>
              </a:lnSpc>
              <a:spcBef>
                <a:spcPct val="0"/>
              </a:spcBef>
            </a:pPr>
            <a:r>
              <a:rPr lang="en-US" sz="2100">
                <a:solidFill>
                  <a:srgbClr val="545454"/>
                </a:solidFill>
                <a:latin typeface="Work Sans"/>
                <a:ea typeface="Work Sans"/>
                <a:cs typeface="Work Sans"/>
                <a:sym typeface="Work Sans"/>
              </a:rPr>
              <a:t>After identifying the fixture, the user provides key requirements that influence product selection.</a:t>
            </a:r>
          </a:p>
        </p:txBody>
      </p:sp>
      <p:sp>
        <p:nvSpPr>
          <p:cNvPr name="TextBox 11" id="11"/>
          <p:cNvSpPr txBox="true"/>
          <p:nvPr/>
        </p:nvSpPr>
        <p:spPr>
          <a:xfrm rot="0">
            <a:off x="760012" y="2374534"/>
            <a:ext cx="5284708" cy="1480185"/>
          </a:xfrm>
          <a:prstGeom prst="rect">
            <a:avLst/>
          </a:prstGeom>
        </p:spPr>
        <p:txBody>
          <a:bodyPr anchor="t" rtlCol="false" tIns="0" lIns="0" bIns="0" rIns="0">
            <a:spAutoFit/>
          </a:bodyPr>
          <a:lstStyle/>
          <a:p>
            <a:pPr algn="l">
              <a:lnSpc>
                <a:spcPts val="2940"/>
              </a:lnSpc>
            </a:pPr>
            <a:r>
              <a:rPr lang="en-US" sz="2100" b="true">
                <a:solidFill>
                  <a:srgbClr val="545454"/>
                </a:solidFill>
                <a:latin typeface="Work Sans Bold"/>
                <a:ea typeface="Work Sans Bold"/>
                <a:cs typeface="Work Sans Bold"/>
                <a:sym typeface="Work Sans Bold"/>
              </a:rPr>
              <a:t>Space requirements</a:t>
            </a:r>
          </a:p>
          <a:p>
            <a:pPr algn="l" marL="453390" indent="-226695" lvl="1">
              <a:lnSpc>
                <a:spcPts val="2940"/>
              </a:lnSpc>
              <a:buFont typeface="Arial"/>
              <a:buChar char="•"/>
            </a:pPr>
            <a:r>
              <a:rPr lang="en-US" sz="2100">
                <a:solidFill>
                  <a:srgbClr val="545454"/>
                </a:solidFill>
                <a:latin typeface="Work Sans"/>
                <a:ea typeface="Work Sans"/>
                <a:cs typeface="Work Sans"/>
                <a:sym typeface="Work Sans"/>
              </a:rPr>
              <a:t>Room length and width</a:t>
            </a:r>
          </a:p>
          <a:p>
            <a:pPr algn="l" marL="453390" indent="-226695" lvl="1">
              <a:lnSpc>
                <a:spcPts val="2940"/>
              </a:lnSpc>
              <a:buFont typeface="Arial"/>
              <a:buChar char="•"/>
            </a:pPr>
            <a:r>
              <a:rPr lang="en-US" sz="2100">
                <a:solidFill>
                  <a:srgbClr val="545454"/>
                </a:solidFill>
                <a:latin typeface="Work Sans"/>
                <a:ea typeface="Work Sans"/>
                <a:cs typeface="Work Sans"/>
                <a:sym typeface="Work Sans"/>
              </a:rPr>
              <a:t>Room height, where applicable</a:t>
            </a:r>
          </a:p>
          <a:p>
            <a:pPr algn="l" marL="453390" indent="-226695" lvl="1">
              <a:lnSpc>
                <a:spcPts val="2940"/>
              </a:lnSpc>
              <a:buFont typeface="Arial"/>
              <a:buChar char="•"/>
            </a:pPr>
            <a:r>
              <a:rPr lang="en-US" sz="2100">
                <a:solidFill>
                  <a:srgbClr val="545454"/>
                </a:solidFill>
                <a:latin typeface="Work Sans"/>
                <a:ea typeface="Work Sans"/>
                <a:cs typeface="Work Sans"/>
                <a:sym typeface="Work Sans"/>
              </a:rPr>
              <a:t>Countertop depth for kitchen spaces</a:t>
            </a:r>
          </a:p>
        </p:txBody>
      </p:sp>
      <p:sp>
        <p:nvSpPr>
          <p:cNvPr name="TextBox 12" id="12"/>
          <p:cNvSpPr txBox="true"/>
          <p:nvPr/>
        </p:nvSpPr>
        <p:spPr>
          <a:xfrm rot="0">
            <a:off x="760012" y="4054744"/>
            <a:ext cx="2466022" cy="1480185"/>
          </a:xfrm>
          <a:prstGeom prst="rect">
            <a:avLst/>
          </a:prstGeom>
        </p:spPr>
        <p:txBody>
          <a:bodyPr anchor="t" rtlCol="false" tIns="0" lIns="0" bIns="0" rIns="0">
            <a:spAutoFit/>
          </a:bodyPr>
          <a:lstStyle/>
          <a:p>
            <a:pPr algn="l">
              <a:lnSpc>
                <a:spcPts val="2940"/>
              </a:lnSpc>
            </a:pPr>
            <a:r>
              <a:rPr lang="en-US" sz="2100" b="true">
                <a:solidFill>
                  <a:srgbClr val="545454"/>
                </a:solidFill>
                <a:latin typeface="Work Sans Bold"/>
                <a:ea typeface="Work Sans Bold"/>
                <a:cs typeface="Work Sans Bold"/>
                <a:sym typeface="Work Sans Bold"/>
              </a:rPr>
              <a:t>User preferences</a:t>
            </a:r>
          </a:p>
          <a:p>
            <a:pPr algn="l" marL="453390" indent="-226695" lvl="1">
              <a:lnSpc>
                <a:spcPts val="2940"/>
              </a:lnSpc>
              <a:buFont typeface="Arial"/>
              <a:buChar char="•"/>
            </a:pPr>
            <a:r>
              <a:rPr lang="en-US" sz="2100">
                <a:solidFill>
                  <a:srgbClr val="545454"/>
                </a:solidFill>
                <a:latin typeface="Work Sans"/>
                <a:ea typeface="Work Sans"/>
                <a:cs typeface="Work Sans"/>
                <a:sym typeface="Work Sans"/>
              </a:rPr>
              <a:t>Budget range</a:t>
            </a:r>
          </a:p>
          <a:p>
            <a:pPr algn="l" marL="453390" indent="-226695" lvl="1">
              <a:lnSpc>
                <a:spcPts val="2940"/>
              </a:lnSpc>
              <a:buFont typeface="Arial"/>
              <a:buChar char="•"/>
            </a:pPr>
            <a:r>
              <a:rPr lang="en-US" sz="2100">
                <a:solidFill>
                  <a:srgbClr val="545454"/>
                </a:solidFill>
                <a:latin typeface="Work Sans"/>
                <a:ea typeface="Work Sans"/>
                <a:cs typeface="Work Sans"/>
                <a:sym typeface="Work Sans"/>
              </a:rPr>
              <a:t>Preferred Style</a:t>
            </a:r>
          </a:p>
          <a:p>
            <a:pPr algn="l" marL="453390" indent="-226695" lvl="1">
              <a:lnSpc>
                <a:spcPts val="2940"/>
              </a:lnSpc>
              <a:buFont typeface="Arial"/>
              <a:buChar char="•"/>
            </a:pPr>
            <a:r>
              <a:rPr lang="en-US" sz="2100">
                <a:solidFill>
                  <a:srgbClr val="545454"/>
                </a:solidFill>
                <a:latin typeface="Work Sans"/>
                <a:ea typeface="Work Sans"/>
                <a:cs typeface="Work Sans"/>
                <a:sym typeface="Work Sans"/>
              </a:rPr>
              <a:t>Preferred finish</a:t>
            </a:r>
          </a:p>
        </p:txBody>
      </p:sp>
      <p:sp>
        <p:nvSpPr>
          <p:cNvPr name="TextBox 13" id="13"/>
          <p:cNvSpPr txBox="true"/>
          <p:nvPr/>
        </p:nvSpPr>
        <p:spPr>
          <a:xfrm rot="0">
            <a:off x="12535935" y="4240482"/>
            <a:ext cx="5555536" cy="1108710"/>
          </a:xfrm>
          <a:prstGeom prst="rect">
            <a:avLst/>
          </a:prstGeom>
        </p:spPr>
        <p:txBody>
          <a:bodyPr anchor="t" rtlCol="false" tIns="0" lIns="0" bIns="0" rIns="0">
            <a:spAutoFit/>
          </a:bodyPr>
          <a:lstStyle/>
          <a:p>
            <a:pPr algn="just">
              <a:lnSpc>
                <a:spcPts val="2940"/>
              </a:lnSpc>
              <a:spcBef>
                <a:spcPct val="0"/>
              </a:spcBef>
            </a:pPr>
            <a:r>
              <a:rPr lang="en-US" sz="2100">
                <a:solidFill>
                  <a:srgbClr val="545454"/>
                </a:solidFill>
                <a:latin typeface="Work Sans"/>
                <a:ea typeface="Work Sans"/>
                <a:cs typeface="Work Sans"/>
                <a:sym typeface="Work Sans"/>
              </a:rPr>
              <a:t>The recommendati</a:t>
            </a:r>
            <a:r>
              <a:rPr lang="en-US" sz="2100">
                <a:solidFill>
                  <a:srgbClr val="545454"/>
                </a:solidFill>
                <a:latin typeface="Work Sans"/>
                <a:ea typeface="Work Sans"/>
                <a:cs typeface="Work Sans"/>
                <a:sym typeface="Work Sans"/>
              </a:rPr>
              <a:t>on is based on the user's actual space and requirements — not just the product category.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0373" y="437619"/>
            <a:ext cx="7328035" cy="903279"/>
            <a:chOff x="0" y="0"/>
            <a:chExt cx="9770714" cy="1204372"/>
          </a:xfrm>
        </p:grpSpPr>
        <p:grpSp>
          <p:nvGrpSpPr>
            <p:cNvPr name="Group 3" id="3"/>
            <p:cNvGrpSpPr/>
            <p:nvPr/>
          </p:nvGrpSpPr>
          <p:grpSpPr>
            <a:xfrm rot="0">
              <a:off x="0" y="0"/>
              <a:ext cx="8194123" cy="1204372"/>
              <a:chOff x="0" y="0"/>
              <a:chExt cx="2786886" cy="409616"/>
            </a:xfrm>
          </p:grpSpPr>
          <p:sp>
            <p:nvSpPr>
              <p:cNvPr name="Freeform 4" id="4"/>
              <p:cNvSpPr/>
              <p:nvPr/>
            </p:nvSpPr>
            <p:spPr>
              <a:xfrm flipH="false" flipV="false" rot="0">
                <a:off x="0" y="0"/>
                <a:ext cx="2786886" cy="409616"/>
              </a:xfrm>
              <a:custGeom>
                <a:avLst/>
                <a:gdLst/>
                <a:ahLst/>
                <a:cxnLst/>
                <a:rect r="r" b="b" t="t" l="l"/>
                <a:pathLst>
                  <a:path h="409616" w="2786886">
                    <a:moveTo>
                      <a:pt x="0" y="0"/>
                    </a:moveTo>
                    <a:lnTo>
                      <a:pt x="2786886" y="0"/>
                    </a:lnTo>
                    <a:lnTo>
                      <a:pt x="2786886" y="409616"/>
                    </a:lnTo>
                    <a:lnTo>
                      <a:pt x="0" y="409616"/>
                    </a:lnTo>
                    <a:close/>
                  </a:path>
                </a:pathLst>
              </a:custGeom>
              <a:solidFill>
                <a:srgbClr val="FFFFFF"/>
              </a:solidFill>
              <a:ln w="19050" cap="sq">
                <a:solidFill>
                  <a:srgbClr val="545454"/>
                </a:solidFill>
                <a:prstDash val="solid"/>
                <a:miter/>
              </a:ln>
            </p:spPr>
          </p:sp>
          <p:sp>
            <p:nvSpPr>
              <p:cNvPr name="TextBox 5" id="5"/>
              <p:cNvSpPr txBox="true"/>
              <p:nvPr/>
            </p:nvSpPr>
            <p:spPr>
              <a:xfrm>
                <a:off x="0" y="-47625"/>
                <a:ext cx="2786886" cy="457241"/>
              </a:xfrm>
              <a:prstGeom prst="rect">
                <a:avLst/>
              </a:prstGeom>
            </p:spPr>
            <p:txBody>
              <a:bodyPr anchor="ctr" rtlCol="false" tIns="50800" lIns="50800" bIns="50800" rIns="50800"/>
              <a:lstStyle/>
              <a:p>
                <a:pPr algn="ctr">
                  <a:lnSpc>
                    <a:spcPts val="2519"/>
                  </a:lnSpc>
                </a:pPr>
              </a:p>
            </p:txBody>
          </p:sp>
        </p:grpSp>
        <p:sp>
          <p:nvSpPr>
            <p:cNvPr name="TextBox 6" id="6"/>
            <p:cNvSpPr txBox="true"/>
            <p:nvPr/>
          </p:nvSpPr>
          <p:spPr>
            <a:xfrm rot="0">
              <a:off x="856443" y="172507"/>
              <a:ext cx="8914270" cy="622724"/>
            </a:xfrm>
            <a:prstGeom prst="rect">
              <a:avLst/>
            </a:prstGeom>
          </p:spPr>
          <p:txBody>
            <a:bodyPr anchor="t" rtlCol="false" tIns="0" lIns="0" bIns="0" rIns="0">
              <a:spAutoFit/>
            </a:bodyPr>
            <a:lstStyle/>
            <a:p>
              <a:pPr algn="l">
                <a:lnSpc>
                  <a:spcPts val="3919"/>
                </a:lnSpc>
                <a:spcBef>
                  <a:spcPct val="0"/>
                </a:spcBef>
              </a:pPr>
              <a:r>
                <a:rPr lang="en-US" sz="2799">
                  <a:solidFill>
                    <a:srgbClr val="545454"/>
                  </a:solidFill>
                  <a:latin typeface="Anton"/>
                  <a:ea typeface="Anton"/>
                  <a:cs typeface="Anton"/>
                  <a:sym typeface="Anton"/>
                </a:rPr>
                <a:t>GET PERSONALIZED RECCOMENDATIONS</a:t>
              </a:r>
            </a:p>
          </p:txBody>
        </p:sp>
      </p:grpSp>
      <p:sp>
        <p:nvSpPr>
          <p:cNvPr name="Freeform 7" id="7"/>
          <p:cNvSpPr/>
          <p:nvPr/>
        </p:nvSpPr>
        <p:spPr>
          <a:xfrm flipH="false" flipV="false" rot="0">
            <a:off x="8904688" y="0"/>
            <a:ext cx="9383312" cy="3827028"/>
          </a:xfrm>
          <a:custGeom>
            <a:avLst/>
            <a:gdLst/>
            <a:ahLst/>
            <a:cxnLst/>
            <a:rect r="r" b="b" t="t" l="l"/>
            <a:pathLst>
              <a:path h="3827028" w="9383312">
                <a:moveTo>
                  <a:pt x="0" y="0"/>
                </a:moveTo>
                <a:lnTo>
                  <a:pt x="9383312" y="0"/>
                </a:lnTo>
                <a:lnTo>
                  <a:pt x="9383312" y="3827028"/>
                </a:lnTo>
                <a:lnTo>
                  <a:pt x="0" y="3827028"/>
                </a:lnTo>
                <a:lnTo>
                  <a:pt x="0" y="0"/>
                </a:lnTo>
                <a:close/>
              </a:path>
            </a:pathLst>
          </a:custGeom>
          <a:blipFill>
            <a:blip r:embed="rId2"/>
            <a:stretch>
              <a:fillRect l="0" t="0" r="0" b="-38235"/>
            </a:stretch>
          </a:blipFill>
        </p:spPr>
      </p:sp>
      <p:sp>
        <p:nvSpPr>
          <p:cNvPr name="Freeform 8" id="8"/>
          <p:cNvSpPr/>
          <p:nvPr/>
        </p:nvSpPr>
        <p:spPr>
          <a:xfrm flipH="false" flipV="false" rot="0">
            <a:off x="8792679" y="3827028"/>
            <a:ext cx="9383312" cy="4796644"/>
          </a:xfrm>
          <a:custGeom>
            <a:avLst/>
            <a:gdLst/>
            <a:ahLst/>
            <a:cxnLst/>
            <a:rect r="r" b="b" t="t" l="l"/>
            <a:pathLst>
              <a:path h="4796644" w="9383312">
                <a:moveTo>
                  <a:pt x="0" y="0"/>
                </a:moveTo>
                <a:lnTo>
                  <a:pt x="9383312" y="0"/>
                </a:lnTo>
                <a:lnTo>
                  <a:pt x="9383312" y="4796644"/>
                </a:lnTo>
                <a:lnTo>
                  <a:pt x="0" y="4796644"/>
                </a:lnTo>
                <a:lnTo>
                  <a:pt x="0" y="0"/>
                </a:lnTo>
                <a:close/>
              </a:path>
            </a:pathLst>
          </a:custGeom>
          <a:blipFill>
            <a:blip r:embed="rId3"/>
            <a:stretch>
              <a:fillRect l="0" t="0" r="0" b="0"/>
            </a:stretch>
          </a:blipFill>
        </p:spPr>
      </p:sp>
      <p:sp>
        <p:nvSpPr>
          <p:cNvPr name="TextBox 9" id="9"/>
          <p:cNvSpPr txBox="true"/>
          <p:nvPr/>
        </p:nvSpPr>
        <p:spPr>
          <a:xfrm rot="0">
            <a:off x="730373" y="1805940"/>
            <a:ext cx="4331256" cy="3337560"/>
          </a:xfrm>
          <a:prstGeom prst="rect">
            <a:avLst/>
          </a:prstGeom>
        </p:spPr>
        <p:txBody>
          <a:bodyPr anchor="t" rtlCol="false" tIns="0" lIns="0" bIns="0" rIns="0">
            <a:spAutoFit/>
          </a:bodyPr>
          <a:lstStyle/>
          <a:p>
            <a:pPr algn="l">
              <a:lnSpc>
                <a:spcPts val="2940"/>
              </a:lnSpc>
              <a:spcBef>
                <a:spcPct val="0"/>
              </a:spcBef>
            </a:pPr>
            <a:r>
              <a:rPr lang="en-US" b="true" sz="2100">
                <a:solidFill>
                  <a:srgbClr val="545454"/>
                </a:solidFill>
                <a:latin typeface="Work Sans Bold"/>
                <a:ea typeface="Work Sans Bold"/>
                <a:cs typeface="Work Sans Bold"/>
                <a:sym typeface="Work Sans Bold"/>
              </a:rPr>
              <a:t>Pr</a:t>
            </a:r>
            <a:r>
              <a:rPr lang="en-US" b="true" sz="2100">
                <a:solidFill>
                  <a:srgbClr val="545454"/>
                </a:solidFill>
                <a:latin typeface="Work Sans Bold"/>
                <a:ea typeface="Work Sans Bold"/>
                <a:cs typeface="Work Sans Bold"/>
                <a:sym typeface="Work Sans Bold"/>
              </a:rPr>
              <a:t>oducts are evaluated using:</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Fixture/category relevance</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Confirmed issue</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Budget compatibility</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Available space</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Product dimensions</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Finish preference</a:t>
            </a:r>
          </a:p>
          <a:p>
            <a:pPr algn="l" marL="453390" indent="-226695" lvl="1">
              <a:lnSpc>
                <a:spcPts val="2940"/>
              </a:lnSpc>
              <a:spcBef>
                <a:spcPct val="0"/>
              </a:spcBef>
              <a:buFont typeface="Arial"/>
              <a:buChar char="•"/>
            </a:pPr>
            <a:r>
              <a:rPr lang="en-US" sz="2100">
                <a:solidFill>
                  <a:srgbClr val="545454"/>
                </a:solidFill>
                <a:latin typeface="Work Sans"/>
                <a:ea typeface="Work Sans"/>
                <a:cs typeface="Work Sans"/>
                <a:sym typeface="Work Sans"/>
              </a:rPr>
              <a:t>Available product information</a:t>
            </a:r>
          </a:p>
          <a:p>
            <a:pPr algn="l">
              <a:lnSpc>
                <a:spcPts val="2940"/>
              </a:lnSpc>
              <a:spcBef>
                <a:spcPct val="0"/>
              </a:spcBef>
            </a:pPr>
          </a:p>
        </p:txBody>
      </p:sp>
      <p:sp>
        <p:nvSpPr>
          <p:cNvPr name="TextBox 10" id="10"/>
          <p:cNvSpPr txBox="true"/>
          <p:nvPr/>
        </p:nvSpPr>
        <p:spPr>
          <a:xfrm rot="0">
            <a:off x="730373" y="5095875"/>
            <a:ext cx="7902998" cy="1055370"/>
          </a:xfrm>
          <a:prstGeom prst="rect">
            <a:avLst/>
          </a:prstGeom>
        </p:spPr>
        <p:txBody>
          <a:bodyPr anchor="t" rtlCol="false" tIns="0" lIns="0" bIns="0" rIns="0">
            <a:spAutoFit/>
          </a:bodyPr>
          <a:lstStyle/>
          <a:p>
            <a:pPr algn="l">
              <a:lnSpc>
                <a:spcPts val="2939"/>
              </a:lnSpc>
              <a:spcBef>
                <a:spcPct val="0"/>
              </a:spcBef>
            </a:pPr>
            <a:r>
              <a:rPr lang="en-US" sz="2099">
                <a:solidFill>
                  <a:srgbClr val="545454"/>
                </a:solidFill>
                <a:latin typeface="Work Sans"/>
                <a:ea typeface="Work Sans"/>
                <a:cs typeface="Work Sans"/>
                <a:sym typeface="Work Sans"/>
              </a:rPr>
              <a:t>The system d</a:t>
            </a:r>
            <a:r>
              <a:rPr lang="en-US" sz="2099">
                <a:solidFill>
                  <a:srgbClr val="545454"/>
                </a:solidFill>
                <a:latin typeface="Work Sans"/>
                <a:ea typeface="Work Sans"/>
                <a:cs typeface="Work Sans"/>
                <a:sym typeface="Work Sans"/>
              </a:rPr>
              <a:t>oesn't simply search the catalog — it filters and ranks products according to the user's requirements.</a:t>
            </a:r>
          </a:p>
          <a:p>
            <a:pPr algn="ctr">
              <a:lnSpc>
                <a:spcPts val="2519"/>
              </a:lnSpc>
              <a:spcBef>
                <a:spcPct val="0"/>
              </a:spcBef>
            </a:pPr>
          </a:p>
        </p:txBody>
      </p:sp>
      <p:sp>
        <p:nvSpPr>
          <p:cNvPr name="TextBox 11" id="11"/>
          <p:cNvSpPr txBox="true"/>
          <p:nvPr/>
        </p:nvSpPr>
        <p:spPr>
          <a:xfrm rot="0">
            <a:off x="10381762" y="9076372"/>
            <a:ext cx="5777865" cy="316230"/>
          </a:xfrm>
          <a:prstGeom prst="rect">
            <a:avLst/>
          </a:prstGeom>
        </p:spPr>
        <p:txBody>
          <a:bodyPr anchor="t" rtlCol="false" tIns="0" lIns="0" bIns="0" rIns="0">
            <a:spAutoFit/>
          </a:bodyPr>
          <a:lstStyle/>
          <a:p>
            <a:pPr algn="ctr">
              <a:lnSpc>
                <a:spcPts val="2519"/>
              </a:lnSpc>
              <a:spcBef>
                <a:spcPct val="0"/>
              </a:spcBef>
            </a:pPr>
            <a:r>
              <a:rPr lang="en-US" sz="1799">
                <a:solidFill>
                  <a:srgbClr val="545454"/>
                </a:solidFill>
                <a:latin typeface="Work Sans"/>
                <a:ea typeface="Work Sans"/>
                <a:cs typeface="Work Sans"/>
                <a:sym typeface="Work Sans"/>
              </a:rPr>
              <a:t>Pr</a:t>
            </a:r>
            <a:r>
              <a:rPr lang="en-US" sz="1799">
                <a:solidFill>
                  <a:srgbClr val="545454"/>
                </a:solidFill>
                <a:latin typeface="Work Sans"/>
                <a:ea typeface="Work Sans"/>
                <a:cs typeface="Work Sans"/>
                <a:sym typeface="Work Sans"/>
              </a:rPr>
              <a:t>oduct Name | SKU | Price | Match Score | Reasons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0373" y="437619"/>
            <a:ext cx="5160871" cy="903279"/>
            <a:chOff x="0" y="0"/>
            <a:chExt cx="6881161" cy="1204372"/>
          </a:xfrm>
        </p:grpSpPr>
        <p:grpSp>
          <p:nvGrpSpPr>
            <p:cNvPr name="Group 3" id="3"/>
            <p:cNvGrpSpPr/>
            <p:nvPr/>
          </p:nvGrpSpPr>
          <p:grpSpPr>
            <a:xfrm rot="0">
              <a:off x="0" y="0"/>
              <a:ext cx="5770825" cy="1204372"/>
              <a:chOff x="0" y="0"/>
              <a:chExt cx="1962703" cy="409616"/>
            </a:xfrm>
          </p:grpSpPr>
          <p:sp>
            <p:nvSpPr>
              <p:cNvPr name="Freeform 4" id="4"/>
              <p:cNvSpPr/>
              <p:nvPr/>
            </p:nvSpPr>
            <p:spPr>
              <a:xfrm flipH="false" flipV="false" rot="0">
                <a:off x="0" y="0"/>
                <a:ext cx="1962703" cy="409616"/>
              </a:xfrm>
              <a:custGeom>
                <a:avLst/>
                <a:gdLst/>
                <a:ahLst/>
                <a:cxnLst/>
                <a:rect r="r" b="b" t="t" l="l"/>
                <a:pathLst>
                  <a:path h="409616" w="1962703">
                    <a:moveTo>
                      <a:pt x="0" y="0"/>
                    </a:moveTo>
                    <a:lnTo>
                      <a:pt x="1962703" y="0"/>
                    </a:lnTo>
                    <a:lnTo>
                      <a:pt x="1962703" y="409616"/>
                    </a:lnTo>
                    <a:lnTo>
                      <a:pt x="0" y="409616"/>
                    </a:lnTo>
                    <a:close/>
                  </a:path>
                </a:pathLst>
              </a:custGeom>
              <a:solidFill>
                <a:srgbClr val="FFFFFF"/>
              </a:solidFill>
              <a:ln w="19050" cap="sq">
                <a:solidFill>
                  <a:srgbClr val="545454"/>
                </a:solidFill>
                <a:prstDash val="solid"/>
                <a:miter/>
              </a:ln>
            </p:spPr>
          </p:sp>
          <p:sp>
            <p:nvSpPr>
              <p:cNvPr name="TextBox 5" id="5"/>
              <p:cNvSpPr txBox="true"/>
              <p:nvPr/>
            </p:nvSpPr>
            <p:spPr>
              <a:xfrm>
                <a:off x="0" y="-47625"/>
                <a:ext cx="1962703" cy="457241"/>
              </a:xfrm>
              <a:prstGeom prst="rect">
                <a:avLst/>
              </a:prstGeom>
            </p:spPr>
            <p:txBody>
              <a:bodyPr anchor="ctr" rtlCol="false" tIns="50800" lIns="50800" bIns="50800" rIns="50800"/>
              <a:lstStyle/>
              <a:p>
                <a:pPr algn="ctr">
                  <a:lnSpc>
                    <a:spcPts val="2519"/>
                  </a:lnSpc>
                </a:pPr>
              </a:p>
            </p:txBody>
          </p:sp>
        </p:grpSp>
        <p:sp>
          <p:nvSpPr>
            <p:cNvPr name="TextBox 6" id="6"/>
            <p:cNvSpPr txBox="true"/>
            <p:nvPr/>
          </p:nvSpPr>
          <p:spPr>
            <a:xfrm rot="0">
              <a:off x="603162" y="172507"/>
              <a:ext cx="6277999" cy="622724"/>
            </a:xfrm>
            <a:prstGeom prst="rect">
              <a:avLst/>
            </a:prstGeom>
          </p:spPr>
          <p:txBody>
            <a:bodyPr anchor="t" rtlCol="false" tIns="0" lIns="0" bIns="0" rIns="0">
              <a:spAutoFit/>
            </a:bodyPr>
            <a:lstStyle/>
            <a:p>
              <a:pPr algn="l">
                <a:lnSpc>
                  <a:spcPts val="3919"/>
                </a:lnSpc>
                <a:spcBef>
                  <a:spcPct val="0"/>
                </a:spcBef>
              </a:pPr>
              <a:r>
                <a:rPr lang="en-US" sz="2799">
                  <a:solidFill>
                    <a:srgbClr val="545454"/>
                  </a:solidFill>
                  <a:latin typeface="Anton"/>
                  <a:ea typeface="Anton"/>
                  <a:cs typeface="Anton"/>
                  <a:sym typeface="Anton"/>
                </a:rPr>
                <a:t>BUILD A COMPLETE SPACE</a:t>
              </a:r>
            </a:p>
          </p:txBody>
        </p:sp>
      </p:grpSp>
      <p:sp>
        <p:nvSpPr>
          <p:cNvPr name="Freeform 7" id="7"/>
          <p:cNvSpPr/>
          <p:nvPr/>
        </p:nvSpPr>
        <p:spPr>
          <a:xfrm flipH="false" flipV="false" rot="0">
            <a:off x="730373" y="2790817"/>
            <a:ext cx="12778638" cy="7168725"/>
          </a:xfrm>
          <a:custGeom>
            <a:avLst/>
            <a:gdLst/>
            <a:ahLst/>
            <a:cxnLst/>
            <a:rect r="r" b="b" t="t" l="l"/>
            <a:pathLst>
              <a:path h="7168725" w="12778638">
                <a:moveTo>
                  <a:pt x="0" y="0"/>
                </a:moveTo>
                <a:lnTo>
                  <a:pt x="12778638" y="0"/>
                </a:lnTo>
                <a:lnTo>
                  <a:pt x="12778638" y="7168725"/>
                </a:lnTo>
                <a:lnTo>
                  <a:pt x="0" y="7168725"/>
                </a:lnTo>
                <a:lnTo>
                  <a:pt x="0" y="0"/>
                </a:lnTo>
                <a:close/>
              </a:path>
            </a:pathLst>
          </a:custGeom>
          <a:blipFill>
            <a:blip r:embed="rId2"/>
            <a:stretch>
              <a:fillRect l="0" t="0" r="0" b="0"/>
            </a:stretch>
          </a:blipFill>
        </p:spPr>
      </p:sp>
      <p:sp>
        <p:nvSpPr>
          <p:cNvPr name="TextBox 8" id="8"/>
          <p:cNvSpPr txBox="true"/>
          <p:nvPr/>
        </p:nvSpPr>
        <p:spPr>
          <a:xfrm rot="0">
            <a:off x="730373" y="1672582"/>
            <a:ext cx="16393961" cy="737235"/>
          </a:xfrm>
          <a:prstGeom prst="rect">
            <a:avLst/>
          </a:prstGeom>
        </p:spPr>
        <p:txBody>
          <a:bodyPr anchor="t" rtlCol="false" tIns="0" lIns="0" bIns="0" rIns="0">
            <a:spAutoFit/>
          </a:bodyPr>
          <a:lstStyle/>
          <a:p>
            <a:pPr algn="just">
              <a:lnSpc>
                <a:spcPts val="2939"/>
              </a:lnSpc>
              <a:spcBef>
                <a:spcPct val="0"/>
              </a:spcBef>
            </a:pPr>
            <a:r>
              <a:rPr lang="en-US" sz="2099">
                <a:solidFill>
                  <a:srgbClr val="545454"/>
                </a:solidFill>
                <a:latin typeface="Work Sans"/>
                <a:ea typeface="Work Sans"/>
                <a:cs typeface="Work Sans"/>
                <a:sym typeface="Work Sans"/>
              </a:rPr>
              <a:t>Instead of recommending only an individual replacement product, the system can generate </a:t>
            </a:r>
            <a:r>
              <a:rPr lang="en-US" b="true" sz="2099">
                <a:solidFill>
                  <a:srgbClr val="545454"/>
                </a:solidFill>
                <a:latin typeface="Work Sans Bold"/>
                <a:ea typeface="Work Sans Bold"/>
                <a:cs typeface="Work Sans Bold"/>
                <a:sym typeface="Work Sans Bold"/>
              </a:rPr>
              <a:t>complete bathroom and kitchen configurations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8389" y="335634"/>
            <a:ext cx="7939940" cy="903279"/>
            <a:chOff x="0" y="0"/>
            <a:chExt cx="10586587" cy="1204372"/>
          </a:xfrm>
        </p:grpSpPr>
        <p:grpSp>
          <p:nvGrpSpPr>
            <p:cNvPr name="Group 3" id="3"/>
            <p:cNvGrpSpPr/>
            <p:nvPr/>
          </p:nvGrpSpPr>
          <p:grpSpPr>
            <a:xfrm rot="0">
              <a:off x="0" y="0"/>
              <a:ext cx="8878348" cy="1204372"/>
              <a:chOff x="0" y="0"/>
              <a:chExt cx="3019596" cy="409616"/>
            </a:xfrm>
          </p:grpSpPr>
          <p:sp>
            <p:nvSpPr>
              <p:cNvPr name="Freeform 4" id="4"/>
              <p:cNvSpPr/>
              <p:nvPr/>
            </p:nvSpPr>
            <p:spPr>
              <a:xfrm flipH="false" flipV="false" rot="0">
                <a:off x="0" y="0"/>
                <a:ext cx="3019597" cy="409616"/>
              </a:xfrm>
              <a:custGeom>
                <a:avLst/>
                <a:gdLst/>
                <a:ahLst/>
                <a:cxnLst/>
                <a:rect r="r" b="b" t="t" l="l"/>
                <a:pathLst>
                  <a:path h="409616" w="3019597">
                    <a:moveTo>
                      <a:pt x="0" y="0"/>
                    </a:moveTo>
                    <a:lnTo>
                      <a:pt x="3019597" y="0"/>
                    </a:lnTo>
                    <a:lnTo>
                      <a:pt x="3019597" y="409616"/>
                    </a:lnTo>
                    <a:lnTo>
                      <a:pt x="0" y="409616"/>
                    </a:lnTo>
                    <a:close/>
                  </a:path>
                </a:pathLst>
              </a:custGeom>
              <a:solidFill>
                <a:srgbClr val="FFFFFF"/>
              </a:solidFill>
              <a:ln w="19050" cap="sq">
                <a:solidFill>
                  <a:srgbClr val="545454"/>
                </a:solidFill>
                <a:prstDash val="solid"/>
                <a:miter/>
              </a:ln>
            </p:spPr>
          </p:sp>
          <p:sp>
            <p:nvSpPr>
              <p:cNvPr name="TextBox 5" id="5"/>
              <p:cNvSpPr txBox="true"/>
              <p:nvPr/>
            </p:nvSpPr>
            <p:spPr>
              <a:xfrm>
                <a:off x="0" y="-47625"/>
                <a:ext cx="3019596" cy="457241"/>
              </a:xfrm>
              <a:prstGeom prst="rect">
                <a:avLst/>
              </a:prstGeom>
            </p:spPr>
            <p:txBody>
              <a:bodyPr anchor="ctr" rtlCol="false" tIns="50800" lIns="50800" bIns="50800" rIns="50800"/>
              <a:lstStyle/>
              <a:p>
                <a:pPr algn="ctr">
                  <a:lnSpc>
                    <a:spcPts val="2519"/>
                  </a:lnSpc>
                </a:pPr>
              </a:p>
            </p:txBody>
          </p:sp>
        </p:grpSp>
        <p:sp>
          <p:nvSpPr>
            <p:cNvPr name="TextBox 6" id="6"/>
            <p:cNvSpPr txBox="true"/>
            <p:nvPr/>
          </p:nvSpPr>
          <p:spPr>
            <a:xfrm rot="0">
              <a:off x="927958" y="172507"/>
              <a:ext cx="9658629" cy="622724"/>
            </a:xfrm>
            <a:prstGeom prst="rect">
              <a:avLst/>
            </a:prstGeom>
          </p:spPr>
          <p:txBody>
            <a:bodyPr anchor="t" rtlCol="false" tIns="0" lIns="0" bIns="0" rIns="0">
              <a:spAutoFit/>
            </a:bodyPr>
            <a:lstStyle/>
            <a:p>
              <a:pPr algn="l">
                <a:lnSpc>
                  <a:spcPts val="3919"/>
                </a:lnSpc>
                <a:spcBef>
                  <a:spcPct val="0"/>
                </a:spcBef>
              </a:pPr>
              <a:r>
                <a:rPr lang="en-US" sz="2799">
                  <a:solidFill>
                    <a:srgbClr val="545454"/>
                  </a:solidFill>
                  <a:latin typeface="Anton"/>
                  <a:ea typeface="Anton"/>
                  <a:cs typeface="Anton"/>
                  <a:sym typeface="Anton"/>
                </a:rPr>
                <a:t>VISUALIZE THE RECOMMENDED PRODUCTS</a:t>
              </a:r>
            </a:p>
          </p:txBody>
        </p:sp>
      </p:grpSp>
      <p:sp>
        <p:nvSpPr>
          <p:cNvPr name="Freeform 7" id="7"/>
          <p:cNvSpPr/>
          <p:nvPr/>
        </p:nvSpPr>
        <p:spPr>
          <a:xfrm flipH="false" flipV="false" rot="0">
            <a:off x="11321208" y="2033745"/>
            <a:ext cx="6638612" cy="7988070"/>
          </a:xfrm>
          <a:custGeom>
            <a:avLst/>
            <a:gdLst/>
            <a:ahLst/>
            <a:cxnLst/>
            <a:rect r="r" b="b" t="t" l="l"/>
            <a:pathLst>
              <a:path h="7988070" w="6638612">
                <a:moveTo>
                  <a:pt x="0" y="0"/>
                </a:moveTo>
                <a:lnTo>
                  <a:pt x="6638611" y="0"/>
                </a:lnTo>
                <a:lnTo>
                  <a:pt x="6638611" y="7988070"/>
                </a:lnTo>
                <a:lnTo>
                  <a:pt x="0" y="7988070"/>
                </a:lnTo>
                <a:lnTo>
                  <a:pt x="0" y="0"/>
                </a:lnTo>
                <a:close/>
              </a:path>
            </a:pathLst>
          </a:custGeom>
          <a:blipFill>
            <a:blip r:embed="rId2"/>
            <a:stretch>
              <a:fillRect l="0" t="0" r="0" b="0"/>
            </a:stretch>
          </a:blipFill>
        </p:spPr>
      </p:sp>
      <p:sp>
        <p:nvSpPr>
          <p:cNvPr name="Freeform 8" id="8"/>
          <p:cNvSpPr/>
          <p:nvPr/>
        </p:nvSpPr>
        <p:spPr>
          <a:xfrm flipH="false" flipV="false" rot="0">
            <a:off x="424420" y="5430064"/>
            <a:ext cx="10692819" cy="2759739"/>
          </a:xfrm>
          <a:custGeom>
            <a:avLst/>
            <a:gdLst/>
            <a:ahLst/>
            <a:cxnLst/>
            <a:rect r="r" b="b" t="t" l="l"/>
            <a:pathLst>
              <a:path h="2759739" w="10692819">
                <a:moveTo>
                  <a:pt x="0" y="0"/>
                </a:moveTo>
                <a:lnTo>
                  <a:pt x="10692819" y="0"/>
                </a:lnTo>
                <a:lnTo>
                  <a:pt x="10692819" y="2759739"/>
                </a:lnTo>
                <a:lnTo>
                  <a:pt x="0" y="2759739"/>
                </a:lnTo>
                <a:lnTo>
                  <a:pt x="0" y="0"/>
                </a:lnTo>
                <a:close/>
              </a:path>
            </a:pathLst>
          </a:custGeom>
          <a:blipFill>
            <a:blip r:embed="rId3"/>
            <a:stretch>
              <a:fillRect l="0" t="0" r="0" b="0"/>
            </a:stretch>
          </a:blipFill>
        </p:spPr>
      </p:sp>
      <p:sp>
        <p:nvSpPr>
          <p:cNvPr name="TextBox 9" id="9"/>
          <p:cNvSpPr txBox="true"/>
          <p:nvPr/>
        </p:nvSpPr>
        <p:spPr>
          <a:xfrm rot="0">
            <a:off x="628389" y="1519605"/>
            <a:ext cx="14392417" cy="2541270"/>
          </a:xfrm>
          <a:prstGeom prst="rect">
            <a:avLst/>
          </a:prstGeom>
        </p:spPr>
        <p:txBody>
          <a:bodyPr anchor="t" rtlCol="false" tIns="0" lIns="0" bIns="0" rIns="0">
            <a:spAutoFit/>
          </a:bodyPr>
          <a:lstStyle/>
          <a:p>
            <a:pPr algn="l">
              <a:lnSpc>
                <a:spcPts val="2939"/>
              </a:lnSpc>
            </a:pPr>
            <a:r>
              <a:rPr lang="en-US" sz="2099">
                <a:solidFill>
                  <a:srgbClr val="545454"/>
                </a:solidFill>
                <a:latin typeface="Work Sans"/>
                <a:ea typeface="Work Sans"/>
                <a:cs typeface="Work Sans"/>
                <a:sym typeface="Work Sans"/>
              </a:rPr>
              <a:t>The system generates an </a:t>
            </a:r>
            <a:r>
              <a:rPr lang="en-US" sz="2099" b="true">
                <a:solidFill>
                  <a:srgbClr val="545454"/>
                </a:solidFill>
                <a:latin typeface="Work Sans Bold"/>
                <a:ea typeface="Work Sans Bold"/>
                <a:cs typeface="Work Sans Bold"/>
                <a:sym typeface="Work Sans Bold"/>
              </a:rPr>
              <a:t>indicative 2D lay</a:t>
            </a:r>
            <a:r>
              <a:rPr lang="en-US" b="true" sz="2099">
                <a:solidFill>
                  <a:srgbClr val="545454"/>
                </a:solidFill>
                <a:latin typeface="Work Sans Bold"/>
                <a:ea typeface="Work Sans Bold"/>
                <a:cs typeface="Work Sans Bold"/>
                <a:sym typeface="Work Sans Bold"/>
              </a:rPr>
              <a:t>out</a:t>
            </a:r>
            <a:r>
              <a:rPr lang="en-US" sz="2099">
                <a:solidFill>
                  <a:srgbClr val="545454"/>
                </a:solidFill>
                <a:latin typeface="Work Sans"/>
                <a:ea typeface="Work Sans"/>
                <a:cs typeface="Work Sans"/>
                <a:sym typeface="Work Sans"/>
              </a:rPr>
              <a:t> of the bathroom or kitchen. The visualization considers:</a:t>
            </a:r>
          </a:p>
          <a:p>
            <a:pPr algn="l" marL="453387" indent="-226693" lvl="1">
              <a:lnSpc>
                <a:spcPts val="2939"/>
              </a:lnSpc>
              <a:buFont typeface="Arial"/>
              <a:buChar char="•"/>
            </a:pPr>
            <a:r>
              <a:rPr lang="en-US" sz="2099">
                <a:solidFill>
                  <a:srgbClr val="545454"/>
                </a:solidFill>
                <a:latin typeface="Work Sans"/>
                <a:ea typeface="Work Sans"/>
                <a:cs typeface="Work Sans"/>
                <a:sym typeface="Work Sans"/>
              </a:rPr>
              <a:t>User-provided room dimensions</a:t>
            </a:r>
          </a:p>
          <a:p>
            <a:pPr algn="l" marL="453387" indent="-226693" lvl="1">
              <a:lnSpc>
                <a:spcPts val="2939"/>
              </a:lnSpc>
              <a:buFont typeface="Arial"/>
              <a:buChar char="•"/>
            </a:pPr>
            <a:r>
              <a:rPr lang="en-US" sz="2099">
                <a:solidFill>
                  <a:srgbClr val="545454"/>
                </a:solidFill>
                <a:latin typeface="Work Sans"/>
                <a:ea typeface="Work Sans"/>
                <a:cs typeface="Work Sans"/>
                <a:sym typeface="Work Sans"/>
              </a:rPr>
              <a:t>Product categories</a:t>
            </a:r>
          </a:p>
          <a:p>
            <a:pPr algn="l" marL="453387" indent="-226693" lvl="1">
              <a:lnSpc>
                <a:spcPts val="2939"/>
              </a:lnSpc>
              <a:buFont typeface="Arial"/>
              <a:buChar char="•"/>
            </a:pPr>
            <a:r>
              <a:rPr lang="en-US" sz="2099">
                <a:solidFill>
                  <a:srgbClr val="545454"/>
                </a:solidFill>
                <a:latin typeface="Work Sans"/>
                <a:ea typeface="Work Sans"/>
                <a:cs typeface="Work Sans"/>
                <a:sym typeface="Work Sans"/>
              </a:rPr>
              <a:t>Published product dimensions</a:t>
            </a:r>
          </a:p>
          <a:p>
            <a:pPr algn="l" marL="453387" indent="-226693" lvl="1">
              <a:lnSpc>
                <a:spcPts val="2939"/>
              </a:lnSpc>
              <a:buFont typeface="Arial"/>
              <a:buChar char="•"/>
            </a:pPr>
            <a:r>
              <a:rPr lang="en-US" sz="2099">
                <a:solidFill>
                  <a:srgbClr val="545454"/>
                </a:solidFill>
                <a:latin typeface="Work Sans"/>
                <a:ea typeface="Work Sans"/>
                <a:cs typeface="Work Sans"/>
                <a:sym typeface="Work Sans"/>
              </a:rPr>
              <a:t>Product footprint scaling</a:t>
            </a:r>
          </a:p>
          <a:p>
            <a:pPr algn="l" marL="453387" indent="-226693" lvl="1">
              <a:lnSpc>
                <a:spcPts val="2939"/>
              </a:lnSpc>
              <a:buFont typeface="Arial"/>
              <a:buChar char="•"/>
            </a:pPr>
            <a:r>
              <a:rPr lang="en-US" sz="2099">
                <a:solidFill>
                  <a:srgbClr val="545454"/>
                </a:solidFill>
                <a:latin typeface="Work Sans"/>
                <a:ea typeface="Work Sans"/>
                <a:cs typeface="Work Sans"/>
                <a:sym typeface="Work Sans"/>
              </a:rPr>
              <a:t>Space type</a:t>
            </a:r>
          </a:p>
          <a:p>
            <a:pPr algn="ctr">
              <a:lnSpc>
                <a:spcPts val="2519"/>
              </a:lnSpc>
              <a:spcBef>
                <a:spcPct val="0"/>
              </a:spcBef>
            </a:pPr>
          </a:p>
        </p:txBody>
      </p:sp>
      <p:sp>
        <p:nvSpPr>
          <p:cNvPr name="TextBox 10" id="10"/>
          <p:cNvSpPr txBox="true"/>
          <p:nvPr/>
        </p:nvSpPr>
        <p:spPr>
          <a:xfrm rot="0">
            <a:off x="832357" y="4013251"/>
            <a:ext cx="10284882" cy="737235"/>
          </a:xfrm>
          <a:prstGeom prst="rect">
            <a:avLst/>
          </a:prstGeom>
        </p:spPr>
        <p:txBody>
          <a:bodyPr anchor="t" rtlCol="false" tIns="0" lIns="0" bIns="0" rIns="0">
            <a:spAutoFit/>
          </a:bodyPr>
          <a:lstStyle/>
          <a:p>
            <a:pPr algn="just">
              <a:lnSpc>
                <a:spcPts val="2939"/>
              </a:lnSpc>
              <a:spcBef>
                <a:spcPct val="0"/>
              </a:spcBef>
            </a:pPr>
            <a:r>
              <a:rPr lang="en-US" sz="2099">
                <a:solidFill>
                  <a:srgbClr val="545454"/>
                </a:solidFill>
                <a:latin typeface="Work Sans"/>
                <a:ea typeface="Work Sans"/>
                <a:cs typeface="Work Sans"/>
                <a:sym typeface="Work Sans"/>
              </a:rPr>
              <a:t>Help users understand h</a:t>
            </a:r>
            <a:r>
              <a:rPr lang="en-US" sz="2099">
                <a:solidFill>
                  <a:srgbClr val="545454"/>
                </a:solidFill>
                <a:latin typeface="Work Sans"/>
                <a:ea typeface="Work Sans"/>
                <a:cs typeface="Work Sans"/>
                <a:sym typeface="Work Sans"/>
              </a:rPr>
              <a:t>ow the recommended products relate to the available space before making a product decision.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65645" y="0"/>
            <a:ext cx="3101228" cy="10287000"/>
            <a:chOff x="0" y="0"/>
            <a:chExt cx="816784" cy="2709333"/>
          </a:xfrm>
        </p:grpSpPr>
        <p:sp>
          <p:nvSpPr>
            <p:cNvPr name="Freeform 3" id="3"/>
            <p:cNvSpPr/>
            <p:nvPr/>
          </p:nvSpPr>
          <p:spPr>
            <a:xfrm flipH="false" flipV="false" rot="0">
              <a:off x="0" y="0"/>
              <a:ext cx="816784" cy="2709333"/>
            </a:xfrm>
            <a:custGeom>
              <a:avLst/>
              <a:gdLst/>
              <a:ahLst/>
              <a:cxnLst/>
              <a:rect r="r" b="b" t="t" l="l"/>
              <a:pathLst>
                <a:path h="2709333" w="816784">
                  <a:moveTo>
                    <a:pt x="0" y="0"/>
                  </a:moveTo>
                  <a:lnTo>
                    <a:pt x="816784" y="0"/>
                  </a:lnTo>
                  <a:lnTo>
                    <a:pt x="816784" y="2709333"/>
                  </a:lnTo>
                  <a:lnTo>
                    <a:pt x="0" y="2709333"/>
                  </a:lnTo>
                  <a:close/>
                </a:path>
              </a:pathLst>
            </a:custGeom>
            <a:solidFill>
              <a:srgbClr val="545454"/>
            </a:solidFill>
          </p:spPr>
        </p:sp>
        <p:sp>
          <p:nvSpPr>
            <p:cNvPr name="TextBox 4" id="4"/>
            <p:cNvSpPr txBox="true"/>
            <p:nvPr/>
          </p:nvSpPr>
          <p:spPr>
            <a:xfrm>
              <a:off x="0" y="-47625"/>
              <a:ext cx="816784" cy="2756958"/>
            </a:xfrm>
            <a:prstGeom prst="rect">
              <a:avLst/>
            </a:prstGeom>
          </p:spPr>
          <p:txBody>
            <a:bodyPr anchor="ctr" rtlCol="false" tIns="50800" lIns="50800" bIns="50800" rIns="50800"/>
            <a:lstStyle/>
            <a:p>
              <a:pPr algn="ctr">
                <a:lnSpc>
                  <a:spcPts val="2519"/>
                </a:lnSpc>
              </a:pPr>
            </a:p>
          </p:txBody>
        </p:sp>
      </p:grpSp>
      <p:grpSp>
        <p:nvGrpSpPr>
          <p:cNvPr name="Group 5" id="5"/>
          <p:cNvGrpSpPr/>
          <p:nvPr/>
        </p:nvGrpSpPr>
        <p:grpSpPr>
          <a:xfrm rot="0">
            <a:off x="674740" y="279084"/>
            <a:ext cx="7708863" cy="749616"/>
            <a:chOff x="0" y="0"/>
            <a:chExt cx="3495793" cy="339934"/>
          </a:xfrm>
        </p:grpSpPr>
        <p:sp>
          <p:nvSpPr>
            <p:cNvPr name="Freeform 6" id="6"/>
            <p:cNvSpPr/>
            <p:nvPr/>
          </p:nvSpPr>
          <p:spPr>
            <a:xfrm flipH="false" flipV="false" rot="0">
              <a:off x="0" y="0"/>
              <a:ext cx="3495793" cy="339934"/>
            </a:xfrm>
            <a:custGeom>
              <a:avLst/>
              <a:gdLst/>
              <a:ahLst/>
              <a:cxnLst/>
              <a:rect r="r" b="b" t="t" l="l"/>
              <a:pathLst>
                <a:path h="339934" w="3495793">
                  <a:moveTo>
                    <a:pt x="0" y="0"/>
                  </a:moveTo>
                  <a:lnTo>
                    <a:pt x="3495793" y="0"/>
                  </a:lnTo>
                  <a:lnTo>
                    <a:pt x="3495793" y="339934"/>
                  </a:lnTo>
                  <a:lnTo>
                    <a:pt x="0" y="339934"/>
                  </a:lnTo>
                  <a:close/>
                </a:path>
              </a:pathLst>
            </a:custGeom>
            <a:solidFill>
              <a:srgbClr val="FFFFFF"/>
            </a:solidFill>
            <a:ln w="19050" cap="sq">
              <a:solidFill>
                <a:srgbClr val="545454"/>
              </a:solidFill>
              <a:prstDash val="solid"/>
              <a:miter/>
            </a:ln>
          </p:spPr>
        </p:sp>
        <p:sp>
          <p:nvSpPr>
            <p:cNvPr name="TextBox 7" id="7"/>
            <p:cNvSpPr txBox="true"/>
            <p:nvPr/>
          </p:nvSpPr>
          <p:spPr>
            <a:xfrm>
              <a:off x="0" y="-47625"/>
              <a:ext cx="3495793" cy="387559"/>
            </a:xfrm>
            <a:prstGeom prst="rect">
              <a:avLst/>
            </a:prstGeom>
          </p:spPr>
          <p:txBody>
            <a:bodyPr anchor="ctr" rtlCol="false" tIns="50800" lIns="50800" bIns="50800" rIns="50800"/>
            <a:lstStyle/>
            <a:p>
              <a:pPr algn="ctr">
                <a:lnSpc>
                  <a:spcPts val="2519"/>
                </a:lnSpc>
              </a:pPr>
            </a:p>
          </p:txBody>
        </p:sp>
      </p:grpSp>
      <p:sp>
        <p:nvSpPr>
          <p:cNvPr name="Freeform 8" id="8"/>
          <p:cNvSpPr/>
          <p:nvPr/>
        </p:nvSpPr>
        <p:spPr>
          <a:xfrm flipH="false" flipV="false" rot="0">
            <a:off x="1028700" y="1448365"/>
            <a:ext cx="12800329" cy="8235864"/>
          </a:xfrm>
          <a:custGeom>
            <a:avLst/>
            <a:gdLst/>
            <a:ahLst/>
            <a:cxnLst/>
            <a:rect r="r" b="b" t="t" l="l"/>
            <a:pathLst>
              <a:path h="8235864" w="12800329">
                <a:moveTo>
                  <a:pt x="0" y="0"/>
                </a:moveTo>
                <a:lnTo>
                  <a:pt x="12800329" y="0"/>
                </a:lnTo>
                <a:lnTo>
                  <a:pt x="12800329" y="8235865"/>
                </a:lnTo>
                <a:lnTo>
                  <a:pt x="0" y="8235865"/>
                </a:lnTo>
                <a:lnTo>
                  <a:pt x="0" y="0"/>
                </a:lnTo>
                <a:close/>
              </a:path>
            </a:pathLst>
          </a:custGeom>
          <a:blipFill>
            <a:blip r:embed="rId2"/>
            <a:stretch>
              <a:fillRect l="0" t="-18251" r="0" b="-9677"/>
            </a:stretch>
          </a:blipFill>
        </p:spPr>
      </p:sp>
      <p:sp>
        <p:nvSpPr>
          <p:cNvPr name="TextBox 9" id="9"/>
          <p:cNvSpPr txBox="true"/>
          <p:nvPr/>
        </p:nvSpPr>
        <p:spPr>
          <a:xfrm rot="0">
            <a:off x="1028700" y="384651"/>
            <a:ext cx="6519152" cy="481331"/>
          </a:xfrm>
          <a:prstGeom prst="rect">
            <a:avLst/>
          </a:prstGeom>
        </p:spPr>
        <p:txBody>
          <a:bodyPr anchor="t" rtlCol="false" tIns="0" lIns="0" bIns="0" rIns="0">
            <a:spAutoFit/>
          </a:bodyPr>
          <a:lstStyle/>
          <a:p>
            <a:pPr algn="ctr">
              <a:lnSpc>
                <a:spcPts val="3919"/>
              </a:lnSpc>
              <a:spcBef>
                <a:spcPct val="0"/>
              </a:spcBef>
            </a:pPr>
            <a:r>
              <a:rPr lang="en-US" sz="2799">
                <a:solidFill>
                  <a:srgbClr val="545454"/>
                </a:solidFill>
                <a:latin typeface="Anton"/>
                <a:ea typeface="Anton"/>
                <a:cs typeface="Anton"/>
                <a:sym typeface="Anton"/>
              </a:rPr>
              <a:t>FROM PROBLEM TO PERSONALIZED SOLUTION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5143500"/>
            <a:chOff x="0" y="0"/>
            <a:chExt cx="8293191" cy="2332460"/>
          </a:xfrm>
        </p:grpSpPr>
        <p:sp>
          <p:nvSpPr>
            <p:cNvPr name="Freeform 3" id="3"/>
            <p:cNvSpPr/>
            <p:nvPr/>
          </p:nvSpPr>
          <p:spPr>
            <a:xfrm flipH="false" flipV="false" rot="0">
              <a:off x="0" y="0"/>
              <a:ext cx="8293191" cy="2332460"/>
            </a:xfrm>
            <a:custGeom>
              <a:avLst/>
              <a:gdLst/>
              <a:ahLst/>
              <a:cxnLst/>
              <a:rect r="r" b="b" t="t" l="l"/>
              <a:pathLst>
                <a:path h="2332460" w="8293191">
                  <a:moveTo>
                    <a:pt x="0" y="0"/>
                  </a:moveTo>
                  <a:lnTo>
                    <a:pt x="8293191" y="0"/>
                  </a:lnTo>
                  <a:lnTo>
                    <a:pt x="8293191" y="2332460"/>
                  </a:lnTo>
                  <a:lnTo>
                    <a:pt x="0" y="2332460"/>
                  </a:lnTo>
                  <a:close/>
                </a:path>
              </a:pathLst>
            </a:custGeom>
            <a:solidFill>
              <a:srgbClr val="EBEBEB"/>
            </a:solidFill>
            <a:ln cap="sq">
              <a:noFill/>
              <a:prstDash val="solid"/>
              <a:miter/>
            </a:ln>
          </p:spPr>
        </p:sp>
        <p:sp>
          <p:nvSpPr>
            <p:cNvPr name="TextBox 4" id="4"/>
            <p:cNvSpPr txBox="true"/>
            <p:nvPr/>
          </p:nvSpPr>
          <p:spPr>
            <a:xfrm>
              <a:off x="0" y="-47625"/>
              <a:ext cx="8293191" cy="2380085"/>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6168137" y="3650590"/>
            <a:ext cx="6337010" cy="6376322"/>
          </a:xfrm>
          <a:custGeom>
            <a:avLst/>
            <a:gdLst/>
            <a:ahLst/>
            <a:cxnLst/>
            <a:rect r="r" b="b" t="t" l="l"/>
            <a:pathLst>
              <a:path h="6376322" w="6337010">
                <a:moveTo>
                  <a:pt x="0" y="0"/>
                </a:moveTo>
                <a:lnTo>
                  <a:pt x="6337010" y="0"/>
                </a:lnTo>
                <a:lnTo>
                  <a:pt x="6337010" y="6376322"/>
                </a:lnTo>
                <a:lnTo>
                  <a:pt x="0" y="6376322"/>
                </a:lnTo>
                <a:lnTo>
                  <a:pt x="0" y="0"/>
                </a:lnTo>
                <a:close/>
              </a:path>
            </a:pathLst>
          </a:custGeom>
          <a:blipFill>
            <a:blip r:embed="rId2"/>
            <a:stretch>
              <a:fillRect l="0" t="0" r="0" b="0"/>
            </a:stretch>
          </a:blipFill>
        </p:spPr>
      </p:sp>
      <p:sp>
        <p:nvSpPr>
          <p:cNvPr name="TextBox 6" id="6"/>
          <p:cNvSpPr txBox="true"/>
          <p:nvPr/>
        </p:nvSpPr>
        <p:spPr>
          <a:xfrm rot="0">
            <a:off x="281664" y="-391059"/>
            <a:ext cx="17724673" cy="5534559"/>
          </a:xfrm>
          <a:prstGeom prst="rect">
            <a:avLst/>
          </a:prstGeom>
        </p:spPr>
        <p:txBody>
          <a:bodyPr anchor="t" rtlCol="false" tIns="0" lIns="0" bIns="0" rIns="0">
            <a:spAutoFit/>
          </a:bodyPr>
          <a:lstStyle/>
          <a:p>
            <a:pPr algn="ctr">
              <a:lnSpc>
                <a:spcPts val="45103"/>
              </a:lnSpc>
              <a:spcBef>
                <a:spcPct val="0"/>
              </a:spcBef>
            </a:pPr>
            <a:r>
              <a:rPr lang="en-US" sz="32216">
                <a:solidFill>
                  <a:srgbClr val="545454"/>
                </a:solidFill>
                <a:latin typeface="Anton"/>
                <a:ea typeface="Anton"/>
                <a:cs typeface="Anton"/>
                <a:sym typeface="Anton"/>
              </a:rPr>
              <a:t>THANK YOU</a:t>
            </a:r>
          </a:p>
        </p:txBody>
      </p:sp>
      <p:grpSp>
        <p:nvGrpSpPr>
          <p:cNvPr name="Group 7" id="7"/>
          <p:cNvGrpSpPr/>
          <p:nvPr/>
        </p:nvGrpSpPr>
        <p:grpSpPr>
          <a:xfrm rot="0">
            <a:off x="17259318" y="3033894"/>
            <a:ext cx="423552" cy="42355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45454"/>
            </a:solidFill>
          </p:spPr>
        </p:sp>
        <p:sp>
          <p:nvSpPr>
            <p:cNvPr name="TextBox 9" id="9"/>
            <p:cNvSpPr txBox="true"/>
            <p:nvPr/>
          </p:nvSpPr>
          <p:spPr>
            <a:xfrm>
              <a:off x="190500" y="142875"/>
              <a:ext cx="431800" cy="479425"/>
            </a:xfrm>
            <a:prstGeom prst="rect">
              <a:avLst/>
            </a:prstGeom>
          </p:spPr>
          <p:txBody>
            <a:bodyPr anchor="ctr" rtlCol="false" tIns="50800" lIns="50800" bIns="50800" rIns="50800"/>
            <a:lstStyle/>
            <a:p>
              <a:pPr algn="ctr">
                <a:lnSpc>
                  <a:spcPts val="251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DAHVqh-UeFM</dc:identifier>
  <dcterms:modified xsi:type="dcterms:W3CDTF">2011-08-01T06:04:30Z</dcterms:modified>
  <cp:revision>1</cp:revision>
  <dc:title>mit kohler research</dc:title>
</cp:coreProperties>
</file>